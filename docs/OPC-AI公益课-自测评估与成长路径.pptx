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58368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7E0FF"/>
                </a:solidFill>
                <a:latin typeface="微软雅黑"/>
              </a:defRPr>
            </a:pPr>
            <a:r>
              <a:t>公益课 / AI 能力评估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98755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EEF7FF"/>
                </a:solidFill>
                <a:latin typeface="微软雅黑"/>
              </a:defRPr>
            </a:pPr>
            <a:r>
              <a:t>OPC 创业自测</a:t>
            </a:r>
            <a:br/>
            <a:r>
              <a:t>与 AI 能力成长路径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32461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49ECA9"/>
                </a:solidFill>
                <a:latin typeface="微软雅黑"/>
              </a:defRPr>
            </a:pPr>
            <a:r>
              <a:t>从一时冲动，到可执行的个人业务闭环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736592"/>
            <a:ext cx="3246120" cy="91440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8" y="4736592"/>
            <a:ext cx="324612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4901184"/>
            <a:ext cx="2843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课程目标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5303520"/>
            <a:ext cx="28437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识别人群差异，评估 AI 能力，找到每个人的第一步行动。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24528" y="4736592"/>
            <a:ext cx="3246120" cy="91440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24528" y="4736592"/>
            <a:ext cx="3246120" cy="38100"/>
          </a:xfrm>
          <a:prstGeom prst="rect">
            <a:avLst/>
          </a:prstGeom>
          <a:solidFill>
            <a:srgbClr val="49E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25696" y="4901184"/>
            <a:ext cx="2843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适合对象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25696" y="5303520"/>
            <a:ext cx="28437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职场人、创业者、创作者、管理者、技术人、学习者。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99248" y="4736592"/>
            <a:ext cx="3246120" cy="91440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99248" y="4736592"/>
            <a:ext cx="3246120" cy="38100"/>
          </a:xfrm>
          <a:prstGeom prst="rect">
            <a:avLst/>
          </a:prstGeom>
          <a:solidFill>
            <a:srgbClr val="FFB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0416" y="4901184"/>
            <a:ext cx="2843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关键词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0416" y="5303520"/>
            <a:ext cx="28437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自测 / 风险 / 场景 / 交付 / 产品化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今天要解决的 4 个问题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828800"/>
            <a:ext cx="2423160" cy="2926080"/>
          </a:xfrm>
          <a:prstGeom prst="roundRect">
            <a:avLst/>
          </a:prstGeom>
          <a:solidFill>
            <a:srgbClr val="0D1E32"/>
          </a:solidFill>
          <a:ln w="1651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202996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7E0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2615184"/>
            <a:ext cx="1965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EF7FF"/>
                </a:solidFill>
                <a:latin typeface="微软雅黑"/>
              </a:defRPr>
            </a:pPr>
            <a:r>
              <a:t>AI 对 OPC 的真正价值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429000"/>
            <a:ext cx="1965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B2CD"/>
                </a:solidFill>
                <a:latin typeface="微软雅黑"/>
              </a:defRPr>
            </a:pPr>
            <a:r>
              <a:t>不是替代人，而是放大一个人的业务闭环能力。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0439" y="1828800"/>
            <a:ext cx="2423160" cy="2926080"/>
          </a:xfrm>
          <a:prstGeom prst="roundRect">
            <a:avLst/>
          </a:prstGeom>
          <a:solidFill>
            <a:srgbClr val="0D1E32"/>
          </a:solidFill>
          <a:ln w="1651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21607" y="202996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49ECA9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21607" y="2615184"/>
            <a:ext cx="1965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EF7FF"/>
                </a:solidFill>
                <a:latin typeface="微软雅黑"/>
              </a:defRPr>
            </a:pPr>
            <a:r>
              <a:t>AI 能力如何评估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21607" y="3429000"/>
            <a:ext cx="1965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B2CD"/>
                </a:solidFill>
                <a:latin typeface="微软雅黑"/>
              </a:defRPr>
            </a:pPr>
            <a:r>
              <a:t>用 6 个维度判断当前能力位置。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59" y="1828800"/>
            <a:ext cx="2423160" cy="2926080"/>
          </a:xfrm>
          <a:prstGeom prst="roundRect">
            <a:avLst/>
          </a:prstGeom>
          <a:solidFill>
            <a:srgbClr val="0D1E32"/>
          </a:solidFill>
          <a:ln w="1651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7" y="202996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BE54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7" y="2615184"/>
            <a:ext cx="1965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EF7FF"/>
                </a:solidFill>
                <a:latin typeface="微软雅黑"/>
              </a:defRPr>
            </a:pPr>
            <a:r>
              <a:t>不同人群如何画像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7" y="3429000"/>
            <a:ext cx="1965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B2CD"/>
                </a:solidFill>
                <a:latin typeface="微软雅黑"/>
              </a:defRPr>
            </a:pPr>
            <a:r>
              <a:t>根据需求、短板、场景设计差异化路径。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98280" y="1828800"/>
            <a:ext cx="2423160" cy="2926080"/>
          </a:xfrm>
          <a:prstGeom prst="roundRect">
            <a:avLst/>
          </a:prstGeom>
          <a:solidFill>
            <a:srgbClr val="0D1E32"/>
          </a:solidFill>
          <a:ln w="16510">
            <a:solidFill>
              <a:srgbClr val="9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99448" y="202996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9A80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9448" y="2615184"/>
            <a:ext cx="1965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EF7FF"/>
                </a:solidFill>
                <a:latin typeface="微软雅黑"/>
              </a:defRPr>
            </a:pPr>
            <a:r>
              <a:t>下一步如何行动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9448" y="3429000"/>
            <a:ext cx="1965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B2CD"/>
                </a:solidFill>
                <a:latin typeface="微软雅黑"/>
              </a:defRPr>
            </a:pPr>
            <a:r>
              <a:t>从一个具体场景开始，形成可复用工作流。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核心判断：AI 放大的是业务闭环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1600200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适合做 OPC 的人，不一定最懂技术，但一定能用 AI 完成一个完整闭环。</a:t>
            </a:r>
          </a:p>
        </p:txBody>
      </p:sp>
      <p:sp>
        <p:nvSpPr>
          <p:cNvPr id="31" name="Hexagon 30"/>
          <p:cNvSpPr/>
          <p:nvPr/>
        </p:nvSpPr>
        <p:spPr>
          <a:xfrm>
            <a:off x="822960" y="3154680"/>
            <a:ext cx="1645920" cy="1005840"/>
          </a:xfrm>
          <a:prstGeom prst="hexagon">
            <a:avLst/>
          </a:prstGeom>
          <a:solidFill>
            <a:srgbClr val="122B44"/>
          </a:solidFill>
          <a:ln w="1905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3502152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EEF7FF"/>
                </a:solidFill>
                <a:latin typeface="微软雅黑"/>
              </a:defRPr>
            </a:pPr>
            <a:r>
              <a:t>发现问题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3502152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9AB2CD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4" name="Hexagon 33"/>
          <p:cNvSpPr/>
          <p:nvPr/>
        </p:nvSpPr>
        <p:spPr>
          <a:xfrm>
            <a:off x="3063240" y="3154680"/>
            <a:ext cx="1645920" cy="1005840"/>
          </a:xfrm>
          <a:prstGeom prst="hexagon">
            <a:avLst/>
          </a:prstGeom>
          <a:solidFill>
            <a:srgbClr val="122B44"/>
          </a:solidFill>
          <a:ln w="1905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18688" y="3502152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EEF7FF"/>
                </a:solidFill>
                <a:latin typeface="微软雅黑"/>
              </a:defRPr>
            </a:pPr>
            <a:r>
              <a:t>设计方案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502152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9AB2CD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7" name="Hexagon 36"/>
          <p:cNvSpPr/>
          <p:nvPr/>
        </p:nvSpPr>
        <p:spPr>
          <a:xfrm>
            <a:off x="5303520" y="3154680"/>
            <a:ext cx="1645920" cy="1005840"/>
          </a:xfrm>
          <a:prstGeom prst="hexagon">
            <a:avLst/>
          </a:prstGeom>
          <a:solidFill>
            <a:srgbClr val="122B44"/>
          </a:solidFill>
          <a:ln w="1905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58968" y="3502152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EEF7FF"/>
                </a:solidFill>
                <a:latin typeface="微软雅黑"/>
              </a:defRPr>
            </a:pPr>
            <a:r>
              <a:t>生产内容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3502152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9AB2CD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40" name="Hexagon 39"/>
          <p:cNvSpPr/>
          <p:nvPr/>
        </p:nvSpPr>
        <p:spPr>
          <a:xfrm>
            <a:off x="7543800" y="3154680"/>
            <a:ext cx="1645920" cy="1005840"/>
          </a:xfrm>
          <a:prstGeom prst="hexagon">
            <a:avLst/>
          </a:prstGeom>
          <a:solidFill>
            <a:srgbClr val="122B44"/>
          </a:solidFill>
          <a:ln w="19050">
            <a:solidFill>
              <a:srgbClr val="9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99248" y="3502152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EEF7FF"/>
                </a:solidFill>
                <a:latin typeface="微软雅黑"/>
              </a:defRPr>
            </a:pPr>
            <a:r>
              <a:t>交付服务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502152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9AB2CD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43" name="Hexagon 42"/>
          <p:cNvSpPr/>
          <p:nvPr/>
        </p:nvSpPr>
        <p:spPr>
          <a:xfrm>
            <a:off x="9784080" y="3154680"/>
            <a:ext cx="1645920" cy="1005840"/>
          </a:xfrm>
          <a:prstGeom prst="hexagon">
            <a:avLst/>
          </a:prstGeom>
          <a:solidFill>
            <a:srgbClr val="122B44"/>
          </a:solidFill>
          <a:ln w="19050">
            <a:solidFill>
              <a:srgbClr val="FF5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39528" y="3502152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EEF7FF"/>
                </a:solidFill>
                <a:latin typeface="微软雅黑"/>
              </a:defRPr>
            </a:pPr>
            <a:r>
              <a:t>持续迭代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4892040"/>
            <a:ext cx="9509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49ECA9"/>
                </a:solidFill>
                <a:latin typeface="微软雅黑"/>
              </a:defRPr>
            </a:pPr>
            <a:r>
              <a:t>评估 AI 能力，本质上是在评估：这个人能否借助 AI，把想法变成稳定产出。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AI 能力评估六维模型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5800" y="1554480"/>
            <a:ext cx="3337560" cy="141732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1554480"/>
            <a:ext cx="333756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1719072"/>
            <a:ext cx="29352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问题定义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2121408"/>
            <a:ext cx="293522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说清目标、对象、限制、结果标准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1554480"/>
            <a:ext cx="3337560" cy="141732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0560" y="1554480"/>
            <a:ext cx="3337560" cy="38100"/>
          </a:xfrm>
          <a:prstGeom prst="rect">
            <a:avLst/>
          </a:prstGeom>
          <a:solidFill>
            <a:srgbClr val="49E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8" y="1719072"/>
            <a:ext cx="29352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信息判断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8" y="2121408"/>
            <a:ext cx="293522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识别幻觉、查证来源、对比观点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1554480"/>
            <a:ext cx="3337560" cy="141732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75320" y="1554480"/>
            <a:ext cx="3337560" cy="38100"/>
          </a:xfrm>
          <a:prstGeom prst="rect">
            <a:avLst/>
          </a:prstGeom>
          <a:solidFill>
            <a:srgbClr val="FFB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76488" y="1719072"/>
            <a:ext cx="29352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提问协作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6488" y="2121408"/>
            <a:ext cx="293522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拆任务、给背景、要格式、会迭代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3520439"/>
            <a:ext cx="3337560" cy="141732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9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3520439"/>
            <a:ext cx="3337560" cy="38100"/>
          </a:xfrm>
          <a:prstGeom prst="rect">
            <a:avLst/>
          </a:prstGeom>
          <a:solidFill>
            <a:srgbClr val="9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" y="3685031"/>
            <a:ext cx="29352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业务转化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" y="4087367"/>
            <a:ext cx="293522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把 AI 结果变成交付物或服务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60" y="3520439"/>
            <a:ext cx="3337560" cy="141732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80560" y="3520439"/>
            <a:ext cx="333756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1728" y="3685031"/>
            <a:ext cx="29352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工具整合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4087367"/>
            <a:ext cx="293522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文本、表格、图片、PPT、自动化组合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75320" y="3520439"/>
            <a:ext cx="3337560" cy="141732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75320" y="3520439"/>
            <a:ext cx="3337560" cy="38100"/>
          </a:xfrm>
          <a:prstGeom prst="rect">
            <a:avLst/>
          </a:prstGeom>
          <a:solidFill>
            <a:srgbClr val="49E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76488" y="3685031"/>
            <a:ext cx="29352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执行复盘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76488" y="4087367"/>
            <a:ext cx="293522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形成模板、记录反馈、持续优化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现场自测：10 道题，每题 1-5 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" y="1572768"/>
            <a:ext cx="4892040" cy="457200"/>
          </a:xfrm>
          <a:prstGeom prst="roundRect">
            <a:avLst/>
          </a:prstGeom>
          <a:solidFill>
            <a:srgbClr val="0D1E32"/>
          </a:solidFill>
          <a:ln w="1016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1682496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E0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1664208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EEF7FF"/>
                </a:solidFill>
                <a:latin typeface="微软雅黑"/>
              </a:defRPr>
            </a:pPr>
            <a:r>
              <a:t>我能清楚描述自己想解决的问题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" y="2322576"/>
            <a:ext cx="4892040" cy="457200"/>
          </a:xfrm>
          <a:prstGeom prst="roundRect">
            <a:avLst/>
          </a:prstGeom>
          <a:solidFill>
            <a:srgbClr val="0D1E32"/>
          </a:solidFill>
          <a:ln w="1016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2432304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E0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5024" y="2414016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EEF7FF"/>
                </a:solidFill>
                <a:latin typeface="微软雅黑"/>
              </a:defRPr>
            </a:pPr>
            <a:r>
              <a:t>我能给 AI 提供背景、目标、限制条件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" y="3072384"/>
            <a:ext cx="4892040" cy="457200"/>
          </a:xfrm>
          <a:prstGeom prst="roundRect">
            <a:avLst/>
          </a:prstGeom>
          <a:solidFill>
            <a:srgbClr val="0D1E32"/>
          </a:solidFill>
          <a:ln w="1016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3182112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E0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5024" y="3163824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EEF7FF"/>
                </a:solidFill>
                <a:latin typeface="微软雅黑"/>
              </a:defRPr>
            </a:pPr>
            <a:r>
              <a:t>我能判断 AI 输出中哪些内容不可靠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" y="3822191"/>
            <a:ext cx="4892040" cy="457200"/>
          </a:xfrm>
          <a:prstGeom prst="roundRect">
            <a:avLst/>
          </a:prstGeom>
          <a:solidFill>
            <a:srgbClr val="0D1E32"/>
          </a:solidFill>
          <a:ln w="1016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3931919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E0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5024" y="3913631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EEF7FF"/>
                </a:solidFill>
                <a:latin typeface="微软雅黑"/>
              </a:defRPr>
            </a:pPr>
            <a:r>
              <a:t>我能让 AI 生成可直接使用的文档/表格/PPT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" y="4572000"/>
            <a:ext cx="4892040" cy="457200"/>
          </a:xfrm>
          <a:prstGeom prst="roundRect">
            <a:avLst/>
          </a:prstGeom>
          <a:solidFill>
            <a:srgbClr val="0D1E32"/>
          </a:solidFill>
          <a:ln w="1016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4681728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E0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5024" y="4663440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EEF7FF"/>
                </a:solidFill>
                <a:latin typeface="微软雅黑"/>
              </a:defRPr>
            </a:pPr>
            <a:r>
              <a:t>我能把 AI 结果修改成适合自己业务的版本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9632" y="1572768"/>
            <a:ext cx="4892040" cy="457200"/>
          </a:xfrm>
          <a:prstGeom prst="roundRect">
            <a:avLst/>
          </a:prstGeom>
          <a:solidFill>
            <a:srgbClr val="0D1E32"/>
          </a:solidFill>
          <a:ln w="1016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5936" y="1682496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E0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9984" y="1664208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EEF7FF"/>
                </a:solidFill>
                <a:latin typeface="微软雅黑"/>
              </a:defRPr>
            </a:pPr>
            <a:r>
              <a:t>我至少掌握 3 个以上 AI 应用场景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9632" y="2322576"/>
            <a:ext cx="4892040" cy="457200"/>
          </a:xfrm>
          <a:prstGeom prst="roundRect">
            <a:avLst/>
          </a:prstGeom>
          <a:solidFill>
            <a:srgbClr val="0D1E32"/>
          </a:solidFill>
          <a:ln w="1016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45936" y="2432304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E0FF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9984" y="2414016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EEF7FF"/>
                </a:solidFill>
                <a:latin typeface="微软雅黑"/>
              </a:defRPr>
            </a:pPr>
            <a:r>
              <a:t>我能把重复工作做成模板或流程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99632" y="3072384"/>
            <a:ext cx="4892040" cy="457200"/>
          </a:xfrm>
          <a:prstGeom prst="roundRect">
            <a:avLst/>
          </a:prstGeom>
          <a:solidFill>
            <a:srgbClr val="0D1E32"/>
          </a:solidFill>
          <a:ln w="1016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45936" y="3182112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E0FF"/>
                </a:solidFill>
                <a:latin typeface="微软雅黑"/>
              </a:defRPr>
            </a:pPr>
            <a: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9984" y="3163824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EEF7FF"/>
                </a:solidFill>
                <a:latin typeface="微软雅黑"/>
              </a:defRPr>
            </a:pPr>
            <a:r>
              <a:t>我能用 AI 辅助内容、客户沟通或产品设计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99632" y="3822191"/>
            <a:ext cx="4892040" cy="457200"/>
          </a:xfrm>
          <a:prstGeom prst="roundRect">
            <a:avLst/>
          </a:prstGeom>
          <a:solidFill>
            <a:srgbClr val="0D1E32"/>
          </a:solidFill>
          <a:ln w="1016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45936" y="3931919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E0FF"/>
                </a:solidFill>
                <a:latin typeface="微软雅黑"/>
              </a:defRPr>
            </a:pPr>
            <a: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9984" y="3913631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EEF7FF"/>
                </a:solidFill>
                <a:latin typeface="微软雅黑"/>
              </a:defRPr>
            </a:pPr>
            <a:r>
              <a:t>我能持续复盘 AI 产出的效果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99632" y="4572000"/>
            <a:ext cx="4892040" cy="457200"/>
          </a:xfrm>
          <a:prstGeom prst="roundRect">
            <a:avLst/>
          </a:prstGeom>
          <a:solidFill>
            <a:srgbClr val="0D1E32"/>
          </a:solidFill>
          <a:ln w="1016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45936" y="4681728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E0FF"/>
                </a:solidFill>
                <a:latin typeface="微软雅黑"/>
              </a:defRPr>
            </a:pPr>
            <a: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9984" y="4663440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EEF7FF"/>
                </a:solidFill>
                <a:latin typeface="微软雅黑"/>
              </a:defRPr>
            </a:pPr>
            <a:r>
              <a:t>我知道下一步要改造哪个具体工作环节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566928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BE54"/>
                </a:solidFill>
                <a:latin typeface="微软雅黑"/>
              </a:defRPr>
            </a:pPr>
            <a:r>
              <a:t>评分方式：1 分完全不会，3 分偶尔能做到，5 分可以稳定做到。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分数解释：四类 AI 使用者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13232" y="160020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417320"/>
                <a:gridCol w="3840480"/>
                <a:gridCol w="4297680"/>
              </a:tblGrid>
              <a:tr h="658368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EEF7FF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总分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12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EEF7FF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类型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12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EEF7FF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典型状态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12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EEF7FF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建议路径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122B4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10-20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入门型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知道 AI 重要，但还没有稳定使用习惯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从日常提效开始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21-35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应用型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能完成一些任务，但流程不稳定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建立个人 AI 工作流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36-45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生产型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能产出内容、方案或服务交付物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尝试产品化与标准化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46-50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操盘型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能用 AI 组织业务闭环和自动化系统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搭建 OPC 业务系统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960120" y="534924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49ECA9"/>
                </a:solidFill>
                <a:latin typeface="微软雅黑"/>
              </a:defRPr>
            </a:pPr>
            <a:r>
              <a:t>重点不是比较谁分高，而是找到每个人最值得开始的 AI 场景。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调研报告页 1：OPC 启动准备度测试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102412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B2CD"/>
                </a:solidFill>
                <a:latin typeface="微软雅黑"/>
              </a:defRPr>
            </a:pPr>
            <a:r>
              <a:t>现场填写后，把结果分成“冲动探索、副业验证、服务启动、系统放大”四种状态。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94360" y="1353312"/>
          <a:ext cx="66294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3566160"/>
                <a:gridCol w="2103120"/>
              </a:tblGrid>
              <a:tr h="523240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EEF7FF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维度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12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EEF7FF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自测问题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12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EEF7FF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收集信息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122B44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动机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是长期问题驱动，还是短期焦虑驱动？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创业动机 / 时间窗口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客户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我能清楚说出目标客户是谁吗？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目标客户 / 人群标签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痛点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客户是否有高频、刚需、有成本的问题？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具体痛点 / 当前代价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反馈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我是否和真实潜在客户聊过？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访谈记录 / 明确反馈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付费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客户为什么愿意付费，大概能付多少？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付费理由 / 价格带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获客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30 天内能触达 50-100 个潜在客户吗？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渠道 / 私域 / 触达方式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交付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能否做成清晰服务包或产品包？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服务边界 / 报价 / SOP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风险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是否有 3-6 个月验证期和止损线？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现金流 / 止损线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7543800" y="1417320"/>
            <a:ext cx="3566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EF7FF"/>
                </a:solidFill>
                <a:latin typeface="微软雅黑"/>
              </a:defRPr>
            </a:pPr>
            <a:r>
              <a:t>评分解释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1874519"/>
            <a:ext cx="3794760" cy="512064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5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08392" y="1993391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5B6E"/>
                </a:solidFill>
                <a:latin typeface="微软雅黑"/>
              </a:defRPr>
            </a:pPr>
            <a:r>
              <a:t>8-16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1993391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EF7FF"/>
                </a:solidFill>
                <a:latin typeface="微软雅黑"/>
              </a:defRPr>
            </a:pPr>
            <a:r>
              <a:t>冲动探索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1993391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先做职业提效和客户访谈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43800" y="2542032"/>
            <a:ext cx="3794760" cy="512064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08392" y="266090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E54"/>
                </a:solidFill>
                <a:latin typeface="微软雅黑"/>
              </a:defRPr>
            </a:pPr>
            <a:r>
              <a:t>17-24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2660904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EF7FF"/>
                </a:solidFill>
                <a:latin typeface="微软雅黑"/>
              </a:defRPr>
            </a:pPr>
            <a:r>
              <a:t>副业验证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266090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用 30 天做最小验证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43800" y="3209544"/>
            <a:ext cx="3794760" cy="512064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08392" y="3328416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9ECA9"/>
                </a:solidFill>
                <a:latin typeface="微软雅黑"/>
              </a:defRPr>
            </a:pPr>
            <a:r>
              <a:t>25-30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3328416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EF7FF"/>
                </a:solidFill>
                <a:latin typeface="微软雅黑"/>
              </a:defRPr>
            </a:pPr>
            <a:r>
              <a:t>服务启动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33284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设计服务包并找真实试单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43800" y="3877056"/>
            <a:ext cx="3794760" cy="512064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08392" y="399592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7E0FF"/>
                </a:solidFill>
                <a:latin typeface="微软雅黑"/>
              </a:defRPr>
            </a:pPr>
            <a:r>
              <a:t>31-40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399592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EF7FF"/>
                </a:solidFill>
                <a:latin typeface="微软雅黑"/>
              </a:defRPr>
            </a:pPr>
            <a:r>
              <a:t>系统放大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39959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沉淀 SOP、产品和渠道系统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43800" y="4736592"/>
            <a:ext cx="3794760" cy="950976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9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43800" y="4736592"/>
            <a:ext cx="3794760" cy="38100"/>
          </a:xfrm>
          <a:prstGeom prst="rect">
            <a:avLst/>
          </a:prstGeom>
          <a:solidFill>
            <a:srgbClr val="9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44968" y="4901184"/>
            <a:ext cx="33924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课堂动作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44968" y="5303520"/>
            <a:ext cx="33924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每题 1-5 分。重点不是证明自己适合创业，而是找到下一步最小验证。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调研报告页 2：我的 AI 状态适合从哪里启动？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102412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B2CD"/>
                </a:solidFill>
                <a:latin typeface="微软雅黑"/>
              </a:defRPr>
            </a:pPr>
            <a:r>
              <a:t>把 AI 能力分数和启动准备度合并，给出第一场景和后续服务线索。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1353312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EF7FF"/>
                </a:solidFill>
                <a:latin typeface="微软雅黑"/>
              </a:defRPr>
            </a:pPr>
            <a:r>
              <a:t>先看两个分数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1810512"/>
            <a:ext cx="2697480" cy="1078992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1810512"/>
            <a:ext cx="2697480" cy="38100"/>
          </a:xfrm>
          <a:prstGeom prst="rect">
            <a:avLst/>
          </a:prstGeom>
          <a:solidFill>
            <a:srgbClr val="FFB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1975104"/>
            <a:ext cx="22951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启动准备度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2377440"/>
            <a:ext cx="22951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8 个维度，每题 1-5 分。</a:t>
            </a:r>
            <a:br/>
            <a:r>
              <a:t>判断现在是探索、验证、启动还是放大。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0" y="1810512"/>
            <a:ext cx="2697480" cy="1078992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0" y="1810512"/>
            <a:ext cx="269748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58768" y="1975104"/>
            <a:ext cx="22951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AI 能力分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8768" y="2377440"/>
            <a:ext cx="22951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10 道题，每题 1-5 分。</a:t>
            </a:r>
            <a:br/>
            <a:r>
              <a:t>判断是入门、应用、生产还是操盘。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685800" y="3246120"/>
          <a:ext cx="10789919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606040"/>
                <a:gridCol w="3017520"/>
                <a:gridCol w="3291840"/>
              </a:tblGrid>
              <a:tr h="419100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EEF7FF"/>
                          </a:solidFill>
                          <a:latin typeface="微软雅黑"/>
                        </a:defRPr>
                      </a:pPr>
                      <a:r>
                        <a:t>组合状态</a:t>
                      </a:r>
                    </a:p>
                  </a:txBody>
                  <a:tcPr marL="54864" marR="54864" marT="36576" marB="36576" anchor="ctr">
                    <a:solidFill>
                      <a:srgbClr val="12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EEF7FF"/>
                          </a:solidFill>
                          <a:latin typeface="微软雅黑"/>
                        </a:defRPr>
                      </a:pPr>
                      <a:r>
                        <a:t>最适合的启动方向</a:t>
                      </a:r>
                    </a:p>
                  </a:txBody>
                  <a:tcPr marL="54864" marR="54864" marT="36576" marB="36576" anchor="ctr">
                    <a:solidFill>
                      <a:srgbClr val="12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EEF7FF"/>
                          </a:solidFill>
                          <a:latin typeface="微软雅黑"/>
                        </a:defRPr>
                      </a:pPr>
                      <a:r>
                        <a:t>第一份交付物</a:t>
                      </a:r>
                    </a:p>
                  </a:txBody>
                  <a:tcPr marL="54864" marR="54864" marT="36576" marB="36576" anchor="ctr">
                    <a:solidFill>
                      <a:srgbClr val="12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EEF7FF"/>
                          </a:solidFill>
                          <a:latin typeface="微软雅黑"/>
                        </a:defRPr>
                      </a:pPr>
                      <a:r>
                        <a:t>后续服务线索</a:t>
                      </a:r>
                    </a:p>
                  </a:txBody>
                  <a:tcPr marL="54864" marR="54864" marT="36576" marB="36576" anchor="ctr">
                    <a:solidFill>
                      <a:srgbClr val="122B44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准备低 + AI 低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职业提效 / 客户访谈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工作流清单 + 10 个访谈问题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入门训练营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准备中 + AI 中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副业验证 / 内容获客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30 天验证计划 + 1 个试单方案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场景工作坊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准备高 + AI 中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服务型 OPC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服务包 + 报价单 + 交付 SOP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咨询陪跑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准备中高 + AI 高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工具化 / 产品化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模板产品 / 小工具 / 付费测试页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产品共创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准备高 + AI 高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一人公司系统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获客-交付-复盘自动化流程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t>系统搭建</a:t>
                      </a: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6720840" y="1353312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EF7FF"/>
                </a:solidFill>
                <a:latin typeface="微软雅黑"/>
              </a:defRPr>
            </a:pPr>
            <a:r>
              <a:t>建议收集 6 类信息</a:t>
            </a:r>
          </a:p>
        </p:txBody>
      </p:sp>
      <p:sp>
        <p:nvSpPr>
          <p:cNvPr id="42" name="Oval 41"/>
          <p:cNvSpPr/>
          <p:nvPr/>
        </p:nvSpPr>
        <p:spPr>
          <a:xfrm>
            <a:off x="6784848" y="1865376"/>
            <a:ext cx="146304" cy="146304"/>
          </a:xfrm>
          <a:prstGeom prst="ellipse">
            <a:avLst/>
          </a:prstGeom>
          <a:solidFill>
            <a:srgbClr val="49E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1810512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20" b="0">
                <a:solidFill>
                  <a:srgbClr val="EEF7FF"/>
                </a:solidFill>
                <a:latin typeface="微软雅黑"/>
              </a:defRPr>
            </a:pPr>
            <a:r>
              <a:t>当前职业 / 专业能力</a:t>
            </a:r>
          </a:p>
        </p:txBody>
      </p:sp>
      <p:sp>
        <p:nvSpPr>
          <p:cNvPr id="44" name="Oval 43"/>
          <p:cNvSpPr/>
          <p:nvPr/>
        </p:nvSpPr>
        <p:spPr>
          <a:xfrm>
            <a:off x="6784848" y="2295144"/>
            <a:ext cx="146304" cy="146304"/>
          </a:xfrm>
          <a:prstGeom prst="ellipse">
            <a:avLst/>
          </a:prstGeom>
          <a:solidFill>
            <a:srgbClr val="49E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2240280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20" b="0">
                <a:solidFill>
                  <a:srgbClr val="EEF7FF"/>
                </a:solidFill>
                <a:latin typeface="微软雅黑"/>
              </a:defRPr>
            </a:pPr>
            <a:r>
              <a:t>想服务的人群与痛点</a:t>
            </a:r>
          </a:p>
        </p:txBody>
      </p:sp>
      <p:sp>
        <p:nvSpPr>
          <p:cNvPr id="46" name="Oval 45"/>
          <p:cNvSpPr/>
          <p:nvPr/>
        </p:nvSpPr>
        <p:spPr>
          <a:xfrm>
            <a:off x="6784848" y="2724912"/>
            <a:ext cx="146304" cy="146304"/>
          </a:xfrm>
          <a:prstGeom prst="ellipse">
            <a:avLst/>
          </a:prstGeom>
          <a:solidFill>
            <a:srgbClr val="49E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2670048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20" b="0">
                <a:solidFill>
                  <a:srgbClr val="EEF7FF"/>
                </a:solidFill>
                <a:latin typeface="微软雅黑"/>
              </a:defRPr>
            </a:pPr>
            <a:r>
              <a:t>每周可投入时间</a:t>
            </a:r>
          </a:p>
        </p:txBody>
      </p:sp>
      <p:sp>
        <p:nvSpPr>
          <p:cNvPr id="48" name="Oval 47"/>
          <p:cNvSpPr/>
          <p:nvPr/>
        </p:nvSpPr>
        <p:spPr>
          <a:xfrm>
            <a:off x="6784848" y="3154680"/>
            <a:ext cx="146304" cy="146304"/>
          </a:xfrm>
          <a:prstGeom prst="ellipse">
            <a:avLst/>
          </a:prstGeom>
          <a:solidFill>
            <a:srgbClr val="49E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0" y="3099816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20" b="0">
                <a:solidFill>
                  <a:srgbClr val="EEF7FF"/>
                </a:solidFill>
                <a:latin typeface="微软雅黑"/>
              </a:defRPr>
            </a:pPr>
            <a:r>
              <a:t>可接受投入预算</a:t>
            </a:r>
          </a:p>
        </p:txBody>
      </p:sp>
      <p:sp>
        <p:nvSpPr>
          <p:cNvPr id="50" name="Oval 49"/>
          <p:cNvSpPr/>
          <p:nvPr/>
        </p:nvSpPr>
        <p:spPr>
          <a:xfrm>
            <a:off x="6784848" y="3584448"/>
            <a:ext cx="146304" cy="146304"/>
          </a:xfrm>
          <a:prstGeom prst="ellipse">
            <a:avLst/>
          </a:prstGeom>
          <a:solidFill>
            <a:srgbClr val="49E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0880" y="3529584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20" b="0">
                <a:solidFill>
                  <a:srgbClr val="EEF7FF"/>
                </a:solidFill>
                <a:latin typeface="微软雅黑"/>
              </a:defRPr>
            </a:pPr>
            <a:r>
              <a:t>已有渠道或私域规模</a:t>
            </a:r>
          </a:p>
        </p:txBody>
      </p:sp>
      <p:sp>
        <p:nvSpPr>
          <p:cNvPr id="52" name="Oval 51"/>
          <p:cNvSpPr/>
          <p:nvPr/>
        </p:nvSpPr>
        <p:spPr>
          <a:xfrm>
            <a:off x="6784848" y="4014215"/>
            <a:ext cx="146304" cy="146304"/>
          </a:xfrm>
          <a:prstGeom prst="ellipse">
            <a:avLst/>
          </a:prstGeom>
          <a:solidFill>
            <a:srgbClr val="49E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40880" y="3959351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20" b="0">
                <a:solidFill>
                  <a:srgbClr val="EEF7FF"/>
                </a:solidFill>
                <a:latin typeface="微软雅黑"/>
              </a:defRPr>
            </a:pPr>
            <a:r>
              <a:t>最想尝试的 AI 场景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六类人群画像总览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09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" y="1554480"/>
            <a:ext cx="324612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1554480"/>
            <a:ext cx="324612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1719072"/>
            <a:ext cx="2843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职场转型型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2121408"/>
            <a:ext cx="284378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保饭碗 / 提效率 / 找副业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1554480"/>
            <a:ext cx="324612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0" y="1554480"/>
            <a:ext cx="3246120" cy="38100"/>
          </a:xfrm>
          <a:prstGeom prst="rect">
            <a:avLst/>
          </a:prstGeom>
          <a:solidFill>
            <a:srgbClr val="49E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73168" y="1719072"/>
            <a:ext cx="2843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个体创业型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3168" y="2121408"/>
            <a:ext cx="284378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获客 / 交付 / 标准化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1554480"/>
            <a:ext cx="324612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1554480"/>
            <a:ext cx="3246120" cy="38100"/>
          </a:xfrm>
          <a:prstGeom prst="rect">
            <a:avLst/>
          </a:prstGeom>
          <a:solidFill>
            <a:srgbClr val="FFB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67928" y="1719072"/>
            <a:ext cx="2843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老板管理型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67928" y="2121408"/>
            <a:ext cx="284378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降本增效 / 团队改造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3474720"/>
            <a:ext cx="324612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9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3474720"/>
            <a:ext cx="3246120" cy="38100"/>
          </a:xfrm>
          <a:prstGeom prst="rect">
            <a:avLst/>
          </a:prstGeom>
          <a:solidFill>
            <a:srgbClr val="9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" y="3639312"/>
            <a:ext cx="2843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内容创作者型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" y="4041648"/>
            <a:ext cx="284378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持续产出 / 定位 / 转化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0" y="3474720"/>
            <a:ext cx="324612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0" y="3474720"/>
            <a:ext cx="324612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73168" y="3639312"/>
            <a:ext cx="2843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技术产品型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73168" y="4041648"/>
            <a:ext cx="284378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工具化 / 自动化 / 商业验证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66760" y="3474720"/>
            <a:ext cx="324612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66760" y="3474720"/>
            <a:ext cx="3246120" cy="38100"/>
          </a:xfrm>
          <a:prstGeom prst="rect">
            <a:avLst/>
          </a:prstGeom>
          <a:solidFill>
            <a:srgbClr val="49E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67928" y="3639312"/>
            <a:ext cx="2843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学习成长型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7928" y="4041648"/>
            <a:ext cx="284378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入门 / 学习 / 找方向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画像一：职场转型型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102412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B2CD"/>
                </a:solidFill>
                <a:latin typeface="微软雅黑"/>
              </a:defRPr>
            </a:pPr>
            <a:r>
              <a:t>行政、人事、运营、销售、客服、传统行业从业者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1508760"/>
            <a:ext cx="338328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核心诉求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担心被 AI 淘汰，希望提升竞争力，发展副业。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1508760"/>
            <a:ext cx="3383280" cy="38100"/>
          </a:xfrm>
          <a:prstGeom prst="rect">
            <a:avLst/>
          </a:prstGeom>
          <a:solidFill>
            <a:srgbClr val="FFB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典型问题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5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会用一点 AI，但常停留在写文案、写总结。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5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1000" y="1508760"/>
            <a:ext cx="3383280" cy="38100"/>
          </a:xfrm>
          <a:prstGeom prst="rect">
            <a:avLst/>
          </a:prstGeom>
          <a:solidFill>
            <a:srgbClr val="FF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021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能力短板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21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问题定义弱；工具整合弱；业务转化意识不足。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127248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EF7FF"/>
                </a:solidFill>
                <a:latin typeface="微软雅黑"/>
              </a:defRPr>
            </a:pPr>
            <a:r>
              <a:t>适合切入场景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6970" y="343535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简历优化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工作汇报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SOP 编写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客户话术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资料整理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副业内容生产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97880" y="3337560"/>
            <a:ext cx="5440680" cy="2103120"/>
          </a:xfrm>
          <a:prstGeom prst="roundRect">
            <a:avLst/>
          </a:prstGeom>
          <a:solidFill>
            <a:srgbClr val="091B2D"/>
          </a:solidFill>
          <a:ln w="1524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3703320"/>
            <a:ext cx="4709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EF7FF"/>
                </a:solidFill>
                <a:latin typeface="微软雅黑"/>
              </a:defRPr>
            </a:pPr>
            <a:r>
              <a:t>先把 AI 用进每天的工作流，从“会问 AI”变成“用 AI 交付更好的工作成果”。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画像二：个体创业 / 自由职业型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102412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B2CD"/>
                </a:solidFill>
                <a:latin typeface="微软雅黑"/>
              </a:defRPr>
            </a:pPr>
            <a:r>
              <a:t>咨询师、设计师、培训师、摄影师、教练、自由顾问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1508760"/>
            <a:ext cx="3383280" cy="38100"/>
          </a:xfrm>
          <a:prstGeom prst="rect">
            <a:avLst/>
          </a:prstGeom>
          <a:solidFill>
            <a:srgbClr val="49E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核心诉求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提升获客、内容生产和客户交付效率。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1508760"/>
            <a:ext cx="3383280" cy="38100"/>
          </a:xfrm>
          <a:prstGeom prst="rect">
            <a:avLst/>
          </a:prstGeom>
          <a:solidFill>
            <a:srgbClr val="FFB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典型问题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5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专业能力有，但表达、包装、营销和交付标准化不足。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5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1000" y="1508760"/>
            <a:ext cx="3383280" cy="38100"/>
          </a:xfrm>
          <a:prstGeom prst="rect">
            <a:avLst/>
          </a:prstGeom>
          <a:solidFill>
            <a:srgbClr val="FF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021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能力短板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21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产品化不足；流程沉淀不足；内容矩阵不足。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127248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EF7FF"/>
                </a:solidFill>
                <a:latin typeface="微软雅黑"/>
              </a:defRPr>
            </a:pPr>
            <a:r>
              <a:t>适合切入场景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356616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客户画像分析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内容选题库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咨询方案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报告模板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课程大纲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服务 SOP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97880" y="3337560"/>
            <a:ext cx="5440680" cy="2103120"/>
          </a:xfrm>
          <a:prstGeom prst="roundRect">
            <a:avLst/>
          </a:prstGeom>
          <a:solidFill>
            <a:srgbClr val="091B2D"/>
          </a:solidFill>
          <a:ln w="1524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3703320"/>
            <a:ext cx="4709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EF7FF"/>
                </a:solidFill>
                <a:latin typeface="微软雅黑"/>
              </a:defRPr>
            </a:pPr>
            <a:r>
              <a:t>让 AI 帮你把专业表达清楚、包装清楚、交付稳定，而不是替代你的专业。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画像三：老板 / 管理者型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102412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B2CD"/>
                </a:solidFill>
                <a:latin typeface="微软雅黑"/>
              </a:defRPr>
            </a:pPr>
            <a:r>
              <a:t>中小企业老板、门店老板、团队负责人、项目负责人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1508760"/>
            <a:ext cx="3383280" cy="38100"/>
          </a:xfrm>
          <a:prstGeom prst="rect">
            <a:avLst/>
          </a:prstGeom>
          <a:solidFill>
            <a:srgbClr val="FFB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核心诉求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降本增效，让团队真正把 AI 用起来。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1508760"/>
            <a:ext cx="3383280" cy="38100"/>
          </a:xfrm>
          <a:prstGeom prst="rect">
            <a:avLst/>
          </a:prstGeom>
          <a:solidFill>
            <a:srgbClr val="FFB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典型问题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5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自己知道 AI 重要，但团队不会用，也缺落地机制。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5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1000" y="1508760"/>
            <a:ext cx="3383280" cy="38100"/>
          </a:xfrm>
          <a:prstGeom prst="rect">
            <a:avLst/>
          </a:prstGeom>
          <a:solidFill>
            <a:srgbClr val="FF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021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能力短板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21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场景识别弱；流程改造弱；团队规范不足。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127248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EF7FF"/>
                </a:solidFill>
                <a:latin typeface="微软雅黑"/>
              </a:defRPr>
            </a:pPr>
            <a:r>
              <a:t>适合切入场景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356616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销售话术库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客户 FAQ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员工培训资料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会议纪要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竞品分析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经营数据解读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97880" y="3337560"/>
            <a:ext cx="5440680" cy="2103120"/>
          </a:xfrm>
          <a:prstGeom prst="roundRect">
            <a:avLst/>
          </a:prstGeom>
          <a:solidFill>
            <a:srgbClr val="091B2D"/>
          </a:solidFill>
          <a:ln w="1524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3703320"/>
            <a:ext cx="4709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EF7FF"/>
                </a:solidFill>
                <a:latin typeface="微软雅黑"/>
              </a:defRPr>
            </a:pPr>
            <a:r>
              <a:t>老板学 AI，是为了重新设计团队工作方式，优先改造高频、重复、标准化环节。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画像四：内容创作者型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102412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B2CD"/>
                </a:solidFill>
                <a:latin typeface="微软雅黑"/>
              </a:defRPr>
            </a:pPr>
            <a:r>
              <a:t>自媒体人、博主、主播、知识付费从业者、短视频创作者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9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1508760"/>
            <a:ext cx="3383280" cy="38100"/>
          </a:xfrm>
          <a:prstGeom prst="rect">
            <a:avLst/>
          </a:prstGeom>
          <a:solidFill>
            <a:srgbClr val="9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核心诉求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持续产出内容，提升传播和商业转化。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1508760"/>
            <a:ext cx="3383280" cy="38100"/>
          </a:xfrm>
          <a:prstGeom prst="rect">
            <a:avLst/>
          </a:prstGeom>
          <a:solidFill>
            <a:srgbClr val="FFB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典型问题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5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灵感不稳定，内容同质化，有流量但产品承接弱。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5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1000" y="1508760"/>
            <a:ext cx="3383280" cy="38100"/>
          </a:xfrm>
          <a:prstGeom prst="rect">
            <a:avLst/>
          </a:prstGeom>
          <a:solidFill>
            <a:srgbClr val="FF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021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能力短板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21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选题判断弱；用户洞察弱；商业闭环不清。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127248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EF7FF"/>
                </a:solidFill>
                <a:latin typeface="微软雅黑"/>
              </a:defRPr>
            </a:pPr>
            <a:r>
              <a:t>适合切入场景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356616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选题库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标题分析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脚本生成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图文改写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直播大纲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私域转化话术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97880" y="3337560"/>
            <a:ext cx="5440680" cy="2103120"/>
          </a:xfrm>
          <a:prstGeom prst="roundRect">
            <a:avLst/>
          </a:prstGeom>
          <a:solidFill>
            <a:srgbClr val="091B2D"/>
          </a:solidFill>
          <a:ln w="15240">
            <a:solidFill>
              <a:srgbClr val="9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3703320"/>
            <a:ext cx="4709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EF7FF"/>
                </a:solidFill>
                <a:latin typeface="微软雅黑"/>
              </a:defRPr>
            </a:pPr>
            <a:r>
              <a:t>AI 能放大产量，但真正决定价值的是定位、观点和用户理解。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画像五：技术 / 产品型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102412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B2CD"/>
                </a:solidFill>
                <a:latin typeface="微软雅黑"/>
              </a:defRPr>
            </a:pPr>
            <a:r>
              <a:t>程序员、产品经理、数据分析师、自动化爱好者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1508760"/>
            <a:ext cx="338328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核心诉求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用 AI 做工具、产品、自动化系统。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1508760"/>
            <a:ext cx="3383280" cy="38100"/>
          </a:xfrm>
          <a:prstGeom prst="rect">
            <a:avLst/>
          </a:prstGeom>
          <a:solidFill>
            <a:srgbClr val="FFB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典型问题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5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技术强，但容易先做工具，后找需求。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5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1000" y="1508760"/>
            <a:ext cx="3383280" cy="38100"/>
          </a:xfrm>
          <a:prstGeom prst="rect">
            <a:avLst/>
          </a:prstGeom>
          <a:solidFill>
            <a:srgbClr val="FF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021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能力短板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21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用户洞察不足；商业化能力不足；表达销售较弱。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127248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EF7FF"/>
                </a:solidFill>
                <a:latin typeface="微软雅黑"/>
              </a:defRPr>
            </a:pPr>
            <a:r>
              <a:t>适合切入场景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356616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AI Agent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自动化报表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内部工具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数据分析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行业小工具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SaaS 原型验证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97880" y="3337560"/>
            <a:ext cx="5440680" cy="2103120"/>
          </a:xfrm>
          <a:prstGeom prst="roundRect">
            <a:avLst/>
          </a:prstGeom>
          <a:solidFill>
            <a:srgbClr val="091B2D"/>
          </a:solidFill>
          <a:ln w="1524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3703320"/>
            <a:ext cx="4709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EF7FF"/>
                </a:solidFill>
                <a:latin typeface="微软雅黑"/>
              </a:defRPr>
            </a:pPr>
            <a:r>
              <a:t>不要先问我能做什么工具，而要先问谁愿意为什么问题付钱。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画像六：学习成长型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102412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B2CD"/>
                </a:solidFill>
                <a:latin typeface="微软雅黑"/>
              </a:defRPr>
            </a:pPr>
            <a:r>
              <a:t>学生、宝妈、退休人群、转行探索者、AI 初学者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1508760"/>
            <a:ext cx="3383280" cy="38100"/>
          </a:xfrm>
          <a:prstGeom prst="rect">
            <a:avLst/>
          </a:prstGeom>
          <a:solidFill>
            <a:srgbClr val="49E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核心诉求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了解 AI，提升学习效率，找到个人可能性。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1508760"/>
            <a:ext cx="3383280" cy="38100"/>
          </a:xfrm>
          <a:prstGeom prst="rect">
            <a:avLst/>
          </a:prstGeom>
          <a:solidFill>
            <a:srgbClr val="FFB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典型问题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5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害怕技术门槛，不知道从哪里开始，容易被工具信息淹没。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1508760"/>
            <a:ext cx="3383280" cy="132588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5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1000" y="1508760"/>
            <a:ext cx="3383280" cy="38100"/>
          </a:xfrm>
          <a:prstGeom prst="rect">
            <a:avLst/>
          </a:prstGeom>
          <a:solidFill>
            <a:srgbClr val="FF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02168" y="167335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能力短板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2168" y="2075688"/>
            <a:ext cx="298094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基础认知不足；缺少稳定场景；容易浅尝辄止。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127248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EF7FF"/>
                </a:solidFill>
                <a:latin typeface="微软雅黑"/>
              </a:defRPr>
            </a:pPr>
            <a:r>
              <a:t>适合切入场景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356616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学习计划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读书总结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英语学习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资料整理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生活规划</a:t>
            </a:r>
          </a:p>
          <a:p>
            <a:pPr>
              <a:spcAft>
                <a:spcPts val="600"/>
              </a:spcAft>
              <a:defRPr sz="1300">
                <a:solidFill>
                  <a:srgbClr val="EEF7FF"/>
                </a:solidFill>
                <a:latin typeface="微软雅黑"/>
              </a:defRPr>
            </a:pPr>
            <a:r>
              <a:t>兴趣内容创作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97880" y="3337560"/>
            <a:ext cx="5440680" cy="2103120"/>
          </a:xfrm>
          <a:prstGeom prst="roundRect">
            <a:avLst/>
          </a:prstGeom>
          <a:solidFill>
            <a:srgbClr val="091B2D"/>
          </a:solidFill>
          <a:ln w="1524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3703320"/>
            <a:ext cx="4709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EF7FF"/>
                </a:solidFill>
                <a:latin typeface="微软雅黑"/>
              </a:defRPr>
            </a:pPr>
            <a:r>
              <a:t>第一阶段不要焦虑变现，先建立 AI 使用习惯，让 AI 成为学习和表达伙伴。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不同人群的 AI 第一场景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16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1417320"/>
          <a:ext cx="106527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337560"/>
                <a:gridCol w="5486400"/>
              </a:tblGrid>
              <a:tr h="607422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EEF7FF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人群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12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EEF7FF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最优先场景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12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EEF7FF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第一份交付物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122B44"/>
                    </a:solidFill>
                  </a:tcPr>
                </a:tc>
              </a:tr>
              <a:tr h="607422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职场转型型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日常工作提效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一份工作汇报 / SOP / 简历优化稿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607422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个体创业型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获客与交付标准化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一套服务介绍 + 咨询方案模板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607422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老板管理型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团队高频重复流程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销售话术库 / FAQ / 会议行动清单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607422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内容创作者型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选题与内容生产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30 天选题库 + 3 条脚本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607422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技术产品型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需求验证与原型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一个可演示的小工具或自动化流程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  <a:tr h="607428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学习成长型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学习与表达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9AB2CD"/>
                          </a:solidFill>
                          <a:latin typeface="微软雅黑"/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  <a:uFillTx/>
                        </a:rPr>
                        <a:t>个人学习计划 + 读书总结模板</a:t>
                      </a:r>
                      <a:endParaRPr sz="1800">
                        <a:solidFill>
                          <a:schemeClr val="bg1"/>
                        </a:solidFill>
                        <a:uFillTx/>
                      </a:endParaRPr>
                    </a:p>
                  </a:txBody>
                  <a:tcPr marL="54864" marR="54864" marT="36576" marB="36576" anchor="ctr">
                    <a:solidFill>
                      <a:srgbClr val="0D1E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"/>
            <a:ext cx="8961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EF7FF"/>
                </a:solidFill>
                <a:latin typeface="微软雅黑"/>
              </a:defRPr>
            </a:pPr>
            <a:r>
              <a:t>OPC 的 AI 成长四阶段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932688"/>
            <a:ext cx="114300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" y="1874519"/>
            <a:ext cx="2450592" cy="182880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1874519"/>
            <a:ext cx="2450592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2039111"/>
            <a:ext cx="2048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1. 会用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2441447"/>
            <a:ext cx="2048256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基础提问、总结整理、内容生成</a:t>
            </a:r>
            <a:br/>
            <a:br/>
            <a:r>
              <a:t>结果：效率提升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93592" y="2194560"/>
            <a:ext cx="2450592" cy="182880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49E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93592" y="2194560"/>
            <a:ext cx="2450592" cy="38100"/>
          </a:xfrm>
          <a:prstGeom prst="rect">
            <a:avLst/>
          </a:prstGeom>
          <a:solidFill>
            <a:srgbClr val="49E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94760" y="2359152"/>
            <a:ext cx="2048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2. 用 AI 做交付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60" y="2761488"/>
            <a:ext cx="2048256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方案、报告、客户沟通、内容生产</a:t>
            </a:r>
            <a:br/>
            <a:br/>
            <a:r>
              <a:t>结果：稳定产出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9944" y="2514600"/>
            <a:ext cx="2450592" cy="182880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FFB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9944" y="2514600"/>
            <a:ext cx="2450592" cy="38100"/>
          </a:xfrm>
          <a:prstGeom prst="rect">
            <a:avLst/>
          </a:prstGeom>
          <a:solidFill>
            <a:srgbClr val="FFB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11112" y="2679192"/>
            <a:ext cx="2048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3. 用 AI 建系统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3081528"/>
            <a:ext cx="2048256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获客、交付、复盘、自动化</a:t>
            </a:r>
            <a:br/>
            <a:br/>
            <a:r>
              <a:t>结果：业务闭环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26296" y="2834639"/>
            <a:ext cx="2450592" cy="182880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9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26296" y="2834639"/>
            <a:ext cx="2450592" cy="38100"/>
          </a:xfrm>
          <a:prstGeom prst="rect">
            <a:avLst/>
          </a:prstGeom>
          <a:solidFill>
            <a:srgbClr val="9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27464" y="2999231"/>
            <a:ext cx="2048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4. 用 AI 产品化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27464" y="3401567"/>
            <a:ext cx="2048256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模板化、课程化、工具化、社群化</a:t>
            </a:r>
            <a:br/>
            <a:br/>
            <a:r>
              <a:t>结果：降低边际成本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5321808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49ECA9"/>
                </a:solidFill>
                <a:latin typeface="微软雅黑"/>
              </a:defRPr>
            </a:pPr>
            <a:r>
              <a:t>从“卖时间”走向“卖产品、卖系统、卖可复制能力”。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8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-1005840"/>
            <a:ext cx="4023360" cy="4023360"/>
          </a:xfrm>
          <a:prstGeom prst="ellipse">
            <a:avLst/>
          </a:prstGeom>
          <a:solidFill>
            <a:srgbClr val="009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5120640"/>
            <a:ext cx="4206240" cy="2194560"/>
          </a:xfrm>
          <a:prstGeom prst="ellipse">
            <a:avLst/>
          </a:prstGeom>
          <a:solidFill>
            <a:srgbClr val="34C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643737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B2CD"/>
                </a:solidFill>
                <a:latin typeface="微软雅黑"/>
              </a:defRPr>
            </a:pPr>
            <a:r>
              <a:t>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631168" y="502920"/>
            <a:ext cx="38100" cy="57150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960120"/>
            <a:ext cx="105613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EEF7FF"/>
                </a:solidFill>
                <a:latin typeface="微软雅黑"/>
              </a:defRPr>
            </a:pPr>
            <a:r>
              <a:t>不要问：AI 能替我做什么？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2743200"/>
            <a:ext cx="10149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49ECA9"/>
                </a:solidFill>
                <a:latin typeface="微软雅黑"/>
              </a:defRPr>
            </a:pPr>
            <a:r>
              <a:t>要问：我想创造什么价值，</a:t>
            </a:r>
            <a:br/>
            <a:r>
              <a:t>AI 能帮我放大哪一部分？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4892040"/>
            <a:ext cx="8549640" cy="822960"/>
          </a:xfrm>
          <a:prstGeom prst="roundRect">
            <a:avLst/>
          </a:prstGeom>
          <a:solidFill>
            <a:srgbClr val="0D1E32"/>
          </a:solidFill>
          <a:ln w="12700">
            <a:solidFill>
              <a:srgbClr val="2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0" y="4892040"/>
            <a:ext cx="8549640" cy="38100"/>
          </a:xfrm>
          <a:prstGeom prst="rect">
            <a:avLst/>
          </a:prstGeom>
          <a:solidFill>
            <a:srgbClr val="27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29968" y="5056632"/>
            <a:ext cx="81473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EF7FF"/>
                </a:solidFill>
                <a:latin typeface="微软雅黑"/>
              </a:defRPr>
            </a:pPr>
            <a:r>
              <a:t>课后行动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9968" y="5458968"/>
            <a:ext cx="8147304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AB2CD"/>
                </a:solidFill>
                <a:latin typeface="微软雅黑"/>
              </a:defRPr>
            </a:pPr>
            <a:r>
              <a:t>选一个最真实、最高频、最困扰你的场景，用 AI 做出第一份可交付成果。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3479</Words>
  <Application>WPS 演示</Application>
  <PresentationFormat>On-screen Show (4:3)</PresentationFormat>
  <Paragraphs>642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lhraul</cp:lastModifiedBy>
  <cp:revision>2</cp:revision>
  <dcterms:created xsi:type="dcterms:W3CDTF">2026-04-25T05:43:01Z</dcterms:created>
  <dcterms:modified xsi:type="dcterms:W3CDTF">2026-04-25T05:43:01Z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2052-12.1.25867.25867</vt:lpwstr>
  </property>
  <property fmtid="{D5CDD505-2E9C-101B-9397-08002B2CF9AE}" pid="3" name="ICV">
    <vt:lpwstr>67F70F89B96534196554EC696DA12437_42</vt:lpwstr>
  </property>
</Properties>
</file>