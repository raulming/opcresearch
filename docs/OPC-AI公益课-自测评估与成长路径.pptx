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7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7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7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7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87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9144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8288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7432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36576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45720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54864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008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0" y="-1005840"/>
            <a:ext cx="4023360" cy="4023360"/>
          </a:xfrm>
          <a:prstGeom prst="ellipse">
            <a:avLst/>
          </a:prstGeom>
          <a:solidFill>
            <a:srgbClr val="009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-1371600" y="5120640"/>
            <a:ext cx="4206240" cy="2194560"/>
          </a:xfrm>
          <a:prstGeom prst="ellipse">
            <a:avLst/>
          </a:prstGeom>
          <a:solidFill>
            <a:srgbClr val="34CE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58368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27E0FF"/>
                </a:solidFill>
                <a:latin typeface="微软雅黑"/>
              </a:defRPr>
            </a:pPr>
            <a:r>
              <a:t>公益课 / AI 能力评估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1417320"/>
            <a:ext cx="987552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800" b="1">
                <a:solidFill>
                  <a:srgbClr val="EEF7FF"/>
                </a:solidFill>
                <a:latin typeface="微软雅黑"/>
              </a:defRPr>
            </a:pPr>
            <a:r>
              <a:t>OPC 创业自测</a:t>
            </a:r>
            <a:br/>
            <a:r>
              <a:t>与 AI 能力成长路径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3246120"/>
            <a:ext cx="8046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 b="1">
                <a:solidFill>
                  <a:srgbClr val="49ECA9"/>
                </a:solidFill>
                <a:latin typeface="微软雅黑"/>
              </a:defRPr>
            </a:pPr>
            <a:r>
              <a:t>从一时冲动，到可执行的个人业务闭环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9808" y="4736592"/>
            <a:ext cx="3246120" cy="914400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27E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8" y="4736592"/>
            <a:ext cx="3246120" cy="381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0976" y="4901184"/>
            <a:ext cx="28437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EEF7FF"/>
                </a:solidFill>
                <a:latin typeface="微软雅黑"/>
              </a:defRPr>
            </a:pPr>
            <a:r>
              <a:t>课程目标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0976" y="5303520"/>
            <a:ext cx="28437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识别人群差异，评估 AI 能力，找到每个人的第一步行动。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24528" y="4736592"/>
            <a:ext cx="3246120" cy="914400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49EC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24528" y="4736592"/>
            <a:ext cx="3246120" cy="38100"/>
          </a:xfrm>
          <a:prstGeom prst="rect">
            <a:avLst/>
          </a:prstGeom>
          <a:solidFill>
            <a:srgbClr val="49EC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25696" y="4901184"/>
            <a:ext cx="28437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EEF7FF"/>
                </a:solidFill>
                <a:latin typeface="微软雅黑"/>
              </a:defRPr>
            </a:pPr>
            <a:r>
              <a:t>适合对象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25696" y="5303520"/>
            <a:ext cx="28437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职场人、创业者、创作者、管理者、技术人、学习者。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99248" y="4736592"/>
            <a:ext cx="3246120" cy="914400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FFB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699248" y="4736592"/>
            <a:ext cx="3246120" cy="38100"/>
          </a:xfrm>
          <a:prstGeom prst="rect">
            <a:avLst/>
          </a:prstGeom>
          <a:solidFill>
            <a:srgbClr val="FFBE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00416" y="4901184"/>
            <a:ext cx="28437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EEF7FF"/>
                </a:solidFill>
                <a:latin typeface="微软雅黑"/>
              </a:defRPr>
            </a:pPr>
            <a:r>
              <a:t>关键词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00416" y="5303520"/>
            <a:ext cx="28437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自测 / 风险 / 场景 / 交付 / 产品化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78440" y="6437376"/>
            <a:ext cx="1097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0">
                <a:solidFill>
                  <a:srgbClr val="9AB2CD"/>
                </a:solidFill>
                <a:latin typeface="微软雅黑"/>
              </a:defRPr>
            </a:pPr>
            <a:r>
              <a:t>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631168" y="502920"/>
            <a:ext cx="38100" cy="57150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87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9144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8288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7432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36576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45720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54864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008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0" y="-1005840"/>
            <a:ext cx="4023360" cy="4023360"/>
          </a:xfrm>
          <a:prstGeom prst="ellipse">
            <a:avLst/>
          </a:prstGeom>
          <a:solidFill>
            <a:srgbClr val="009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-1371600" y="5120640"/>
            <a:ext cx="4206240" cy="2194560"/>
          </a:xfrm>
          <a:prstGeom prst="ellipse">
            <a:avLst/>
          </a:prstGeom>
          <a:solidFill>
            <a:srgbClr val="34CE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84048"/>
            <a:ext cx="8961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EEF7FF"/>
                </a:solidFill>
                <a:latin typeface="微软雅黑"/>
              </a:defRPr>
            </a:pPr>
            <a:r>
              <a:t>今天要解决的 4 个问题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932688"/>
            <a:ext cx="1143000" cy="381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78440" y="6437376"/>
            <a:ext cx="1097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0">
                <a:solidFill>
                  <a:srgbClr val="9AB2CD"/>
                </a:solidFill>
                <a:latin typeface="微软雅黑"/>
              </a:defRPr>
            </a:pPr>
            <a:r>
              <a:t>02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631168" y="502920"/>
            <a:ext cx="38100" cy="57150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1520" y="1828800"/>
            <a:ext cx="2423160" cy="2926080"/>
          </a:xfrm>
          <a:prstGeom prst="roundRect">
            <a:avLst/>
          </a:prstGeom>
          <a:solidFill>
            <a:srgbClr val="0D1E32"/>
          </a:solidFill>
          <a:ln w="16510">
            <a:solidFill>
              <a:srgbClr val="27E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202996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27E0FF"/>
                </a:solidFill>
                <a:latin typeface="微软雅黑"/>
              </a:defRPr>
            </a:pPr>
            <a: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" y="2615184"/>
            <a:ext cx="1965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EEF7FF"/>
                </a:solidFill>
                <a:latin typeface="微软雅黑"/>
              </a:defRPr>
            </a:pPr>
            <a:r>
              <a:t>AI 对 OPC 的真正价值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3429000"/>
            <a:ext cx="19659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9AB2CD"/>
                </a:solidFill>
                <a:latin typeface="微软雅黑"/>
              </a:defRPr>
            </a:pPr>
            <a:r>
              <a:t>不是替代人，而是放大一个人的业务闭环能力。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520439" y="1828800"/>
            <a:ext cx="2423160" cy="2926080"/>
          </a:xfrm>
          <a:prstGeom prst="roundRect">
            <a:avLst/>
          </a:prstGeom>
          <a:solidFill>
            <a:srgbClr val="0D1E32"/>
          </a:solidFill>
          <a:ln w="16510">
            <a:solidFill>
              <a:srgbClr val="49EC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21607" y="202996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49ECA9"/>
                </a:solidFill>
                <a:latin typeface="微软雅黑"/>
              </a:defRPr>
            </a:pPr>
            <a:r>
              <a:t>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21607" y="2615184"/>
            <a:ext cx="1965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EEF7FF"/>
                </a:solidFill>
                <a:latin typeface="微软雅黑"/>
              </a:defRPr>
            </a:pPr>
            <a:r>
              <a:t>AI 能力如何评估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21607" y="3429000"/>
            <a:ext cx="19659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9AB2CD"/>
                </a:solidFill>
                <a:latin typeface="微软雅黑"/>
              </a:defRPr>
            </a:pPr>
            <a:r>
              <a:t>用 6 个维度判断当前能力位置。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09359" y="1828800"/>
            <a:ext cx="2423160" cy="2926080"/>
          </a:xfrm>
          <a:prstGeom prst="roundRect">
            <a:avLst/>
          </a:prstGeom>
          <a:solidFill>
            <a:srgbClr val="0D1E32"/>
          </a:solidFill>
          <a:ln w="16510">
            <a:solidFill>
              <a:srgbClr val="FFB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527" y="202996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FFBE54"/>
                </a:solidFill>
                <a:latin typeface="微软雅黑"/>
              </a:defRPr>
            </a:pPr>
            <a:r>
              <a:t>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0527" y="2615184"/>
            <a:ext cx="1965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EEF7FF"/>
                </a:solidFill>
                <a:latin typeface="微软雅黑"/>
              </a:defRPr>
            </a:pPr>
            <a:r>
              <a:t>不同人群如何画像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10527" y="3429000"/>
            <a:ext cx="19659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9AB2CD"/>
                </a:solidFill>
                <a:latin typeface="微软雅黑"/>
              </a:defRPr>
            </a:pPr>
            <a:r>
              <a:t>根据需求、短板、场景设计差异化路径。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98280" y="1828800"/>
            <a:ext cx="2423160" cy="2926080"/>
          </a:xfrm>
          <a:prstGeom prst="roundRect">
            <a:avLst/>
          </a:prstGeom>
          <a:solidFill>
            <a:srgbClr val="0D1E32"/>
          </a:solidFill>
          <a:ln w="16510">
            <a:solidFill>
              <a:srgbClr val="9A8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99448" y="2029968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9A80FF"/>
                </a:solidFill>
                <a:latin typeface="微软雅黑"/>
              </a:defRPr>
            </a:pPr>
            <a: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99448" y="2615184"/>
            <a:ext cx="1965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EEF7FF"/>
                </a:solidFill>
                <a:latin typeface="微软雅黑"/>
              </a:defRPr>
            </a:pPr>
            <a:r>
              <a:t>下一步如何行动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99448" y="3429000"/>
            <a:ext cx="19659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9AB2CD"/>
                </a:solidFill>
                <a:latin typeface="微软雅黑"/>
              </a:defRPr>
            </a:pPr>
            <a:r>
              <a:t>从一个具体场景开始，形成可复用工作流。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87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9144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8288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7432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36576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45720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54864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008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0" y="-1005840"/>
            <a:ext cx="4023360" cy="4023360"/>
          </a:xfrm>
          <a:prstGeom prst="ellipse">
            <a:avLst/>
          </a:prstGeom>
          <a:solidFill>
            <a:srgbClr val="009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-1371600" y="5120640"/>
            <a:ext cx="4206240" cy="2194560"/>
          </a:xfrm>
          <a:prstGeom prst="ellipse">
            <a:avLst/>
          </a:prstGeom>
          <a:solidFill>
            <a:srgbClr val="34CE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84048"/>
            <a:ext cx="8961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EEF7FF"/>
                </a:solidFill>
                <a:latin typeface="微软雅黑"/>
              </a:defRPr>
            </a:pPr>
            <a:r>
              <a:t>核心判断：AI 放大的是业务闭环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932688"/>
            <a:ext cx="1143000" cy="381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78440" y="6437376"/>
            <a:ext cx="1097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0">
                <a:solidFill>
                  <a:srgbClr val="9AB2CD"/>
                </a:solidFill>
                <a:latin typeface="微软雅黑"/>
              </a:defRPr>
            </a:pPr>
            <a:r>
              <a:t>03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631168" y="502920"/>
            <a:ext cx="38100" cy="57150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1600200"/>
            <a:ext cx="101498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600" b="1">
                <a:solidFill>
                  <a:srgbClr val="EEF7FF"/>
                </a:solidFill>
                <a:latin typeface="微软雅黑"/>
              </a:defRPr>
            </a:pPr>
            <a:r>
              <a:t>适合做 OPC 的人，不一定最懂技术，但一定能用 AI 完成一个完整闭环。</a:t>
            </a:r>
          </a:p>
        </p:txBody>
      </p:sp>
      <p:sp>
        <p:nvSpPr>
          <p:cNvPr id="31" name="Hexagon 30"/>
          <p:cNvSpPr/>
          <p:nvPr/>
        </p:nvSpPr>
        <p:spPr>
          <a:xfrm>
            <a:off x="822960" y="3154680"/>
            <a:ext cx="1645920" cy="1005840"/>
          </a:xfrm>
          <a:prstGeom prst="hexagon">
            <a:avLst/>
          </a:prstGeom>
          <a:solidFill>
            <a:srgbClr val="122B44"/>
          </a:solidFill>
          <a:ln w="19050">
            <a:solidFill>
              <a:srgbClr val="27E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" y="3502152"/>
            <a:ext cx="133502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EEF7FF"/>
                </a:solidFill>
                <a:latin typeface="微软雅黑"/>
              </a:defRPr>
            </a:pPr>
            <a:r>
              <a:t>发现问题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14600" y="3502152"/>
            <a:ext cx="38404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200" b="1">
                <a:solidFill>
                  <a:srgbClr val="9AB2CD"/>
                </a:solidFill>
                <a:latin typeface="微软雅黑"/>
              </a:defRPr>
            </a:pPr>
            <a:r>
              <a:t>→</a:t>
            </a:r>
          </a:p>
        </p:txBody>
      </p:sp>
      <p:sp>
        <p:nvSpPr>
          <p:cNvPr id="34" name="Hexagon 33"/>
          <p:cNvSpPr/>
          <p:nvPr/>
        </p:nvSpPr>
        <p:spPr>
          <a:xfrm>
            <a:off x="3063240" y="3154680"/>
            <a:ext cx="1645920" cy="1005840"/>
          </a:xfrm>
          <a:prstGeom prst="hexagon">
            <a:avLst/>
          </a:prstGeom>
          <a:solidFill>
            <a:srgbClr val="122B44"/>
          </a:solidFill>
          <a:ln w="19050">
            <a:solidFill>
              <a:srgbClr val="49EC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18688" y="3502152"/>
            <a:ext cx="133502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EEF7FF"/>
                </a:solidFill>
                <a:latin typeface="微软雅黑"/>
              </a:defRPr>
            </a:pPr>
            <a:r>
              <a:t>设计方案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3502152"/>
            <a:ext cx="38404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200" b="1">
                <a:solidFill>
                  <a:srgbClr val="9AB2CD"/>
                </a:solidFill>
                <a:latin typeface="微软雅黑"/>
              </a:defRPr>
            </a:pPr>
            <a:r>
              <a:t>→</a:t>
            </a:r>
          </a:p>
        </p:txBody>
      </p:sp>
      <p:sp>
        <p:nvSpPr>
          <p:cNvPr id="37" name="Hexagon 36"/>
          <p:cNvSpPr/>
          <p:nvPr/>
        </p:nvSpPr>
        <p:spPr>
          <a:xfrm>
            <a:off x="5303520" y="3154680"/>
            <a:ext cx="1645920" cy="1005840"/>
          </a:xfrm>
          <a:prstGeom prst="hexagon">
            <a:avLst/>
          </a:prstGeom>
          <a:solidFill>
            <a:srgbClr val="122B44"/>
          </a:solidFill>
          <a:ln w="19050">
            <a:solidFill>
              <a:srgbClr val="FFB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58968" y="3502152"/>
            <a:ext cx="133502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EEF7FF"/>
                </a:solidFill>
                <a:latin typeface="微软雅黑"/>
              </a:defRPr>
            </a:pPr>
            <a:r>
              <a:t>生产内容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5160" y="3502152"/>
            <a:ext cx="38404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200" b="1">
                <a:solidFill>
                  <a:srgbClr val="9AB2CD"/>
                </a:solidFill>
                <a:latin typeface="微软雅黑"/>
              </a:defRPr>
            </a:pPr>
            <a:r>
              <a:t>→</a:t>
            </a:r>
          </a:p>
        </p:txBody>
      </p:sp>
      <p:sp>
        <p:nvSpPr>
          <p:cNvPr id="40" name="Hexagon 39"/>
          <p:cNvSpPr/>
          <p:nvPr/>
        </p:nvSpPr>
        <p:spPr>
          <a:xfrm>
            <a:off x="7543800" y="3154680"/>
            <a:ext cx="1645920" cy="1005840"/>
          </a:xfrm>
          <a:prstGeom prst="hexagon">
            <a:avLst/>
          </a:prstGeom>
          <a:solidFill>
            <a:srgbClr val="122B44"/>
          </a:solidFill>
          <a:ln w="19050">
            <a:solidFill>
              <a:srgbClr val="9A8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99248" y="3502152"/>
            <a:ext cx="133502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EEF7FF"/>
                </a:solidFill>
                <a:latin typeface="微软雅黑"/>
              </a:defRPr>
            </a:pPr>
            <a:r>
              <a:t>交付服务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35440" y="3502152"/>
            <a:ext cx="38404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200" b="1">
                <a:solidFill>
                  <a:srgbClr val="9AB2CD"/>
                </a:solidFill>
                <a:latin typeface="微软雅黑"/>
              </a:defRPr>
            </a:pPr>
            <a:r>
              <a:t>→</a:t>
            </a:r>
          </a:p>
        </p:txBody>
      </p:sp>
      <p:sp>
        <p:nvSpPr>
          <p:cNvPr id="43" name="Hexagon 42"/>
          <p:cNvSpPr/>
          <p:nvPr/>
        </p:nvSpPr>
        <p:spPr>
          <a:xfrm>
            <a:off x="9784080" y="3154680"/>
            <a:ext cx="1645920" cy="1005840"/>
          </a:xfrm>
          <a:prstGeom prst="hexagon">
            <a:avLst/>
          </a:prstGeom>
          <a:solidFill>
            <a:srgbClr val="122B44"/>
          </a:solidFill>
          <a:ln w="19050">
            <a:solidFill>
              <a:srgbClr val="FF5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939528" y="3502152"/>
            <a:ext cx="133502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EEF7FF"/>
                </a:solidFill>
                <a:latin typeface="微软雅黑"/>
              </a:defRPr>
            </a:pPr>
            <a:r>
              <a:t>持续迭代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25880" y="4892040"/>
            <a:ext cx="95097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49ECA9"/>
                </a:solidFill>
                <a:latin typeface="微软雅黑"/>
              </a:defRPr>
            </a:pPr>
            <a:r>
              <a:t>评估 AI 能力，本质上是在评估：这个人能否借助 AI，把想法变成稳定产出。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87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9144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8288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7432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36576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45720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54864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008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0" y="-1005840"/>
            <a:ext cx="4023360" cy="4023360"/>
          </a:xfrm>
          <a:prstGeom prst="ellipse">
            <a:avLst/>
          </a:prstGeom>
          <a:solidFill>
            <a:srgbClr val="009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-1371600" y="5120640"/>
            <a:ext cx="4206240" cy="2194560"/>
          </a:xfrm>
          <a:prstGeom prst="ellipse">
            <a:avLst/>
          </a:prstGeom>
          <a:solidFill>
            <a:srgbClr val="34CE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84048"/>
            <a:ext cx="8961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EEF7FF"/>
                </a:solidFill>
                <a:latin typeface="微软雅黑"/>
              </a:defRPr>
            </a:pPr>
            <a:r>
              <a:t>AI 能力评估六维模型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932688"/>
            <a:ext cx="1143000" cy="381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78440" y="6437376"/>
            <a:ext cx="1097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0">
                <a:solidFill>
                  <a:srgbClr val="9AB2CD"/>
                </a:solidFill>
                <a:latin typeface="微软雅黑"/>
              </a:defRPr>
            </a:pPr>
            <a:r>
              <a:t>04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631168" y="502920"/>
            <a:ext cx="38100" cy="57150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85800" y="1554480"/>
            <a:ext cx="3337560" cy="1417320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27E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85800" y="1554480"/>
            <a:ext cx="3337560" cy="381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1719072"/>
            <a:ext cx="29352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EEF7FF"/>
                </a:solidFill>
                <a:latin typeface="微软雅黑"/>
              </a:defRPr>
            </a:pPr>
            <a:r>
              <a:t>问题定义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" y="2121408"/>
            <a:ext cx="2935224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说清目标、对象、限制、结果标准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80560" y="1554480"/>
            <a:ext cx="3337560" cy="1417320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49EC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480560" y="1554480"/>
            <a:ext cx="3337560" cy="38100"/>
          </a:xfrm>
          <a:prstGeom prst="rect">
            <a:avLst/>
          </a:prstGeom>
          <a:solidFill>
            <a:srgbClr val="49EC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81728" y="1719072"/>
            <a:ext cx="29352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EEF7FF"/>
                </a:solidFill>
                <a:latin typeface="微软雅黑"/>
              </a:defRPr>
            </a:pPr>
            <a:r>
              <a:t>信息判断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81728" y="2121408"/>
            <a:ext cx="2935224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识别幻觉、查证来源、对比观点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75320" y="1554480"/>
            <a:ext cx="3337560" cy="1417320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FFB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75320" y="1554480"/>
            <a:ext cx="3337560" cy="38100"/>
          </a:xfrm>
          <a:prstGeom prst="rect">
            <a:avLst/>
          </a:prstGeom>
          <a:solidFill>
            <a:srgbClr val="FFBE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76488" y="1719072"/>
            <a:ext cx="29352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EEF7FF"/>
                </a:solidFill>
                <a:latin typeface="微软雅黑"/>
              </a:defRPr>
            </a:pPr>
            <a:r>
              <a:t>提问协作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76488" y="2121408"/>
            <a:ext cx="2935224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拆任务、给背景、要格式、会迭代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5800" y="3520439"/>
            <a:ext cx="3337560" cy="1417320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9A8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85800" y="3520439"/>
            <a:ext cx="3337560" cy="38100"/>
          </a:xfrm>
          <a:prstGeom prst="rect">
            <a:avLst/>
          </a:prstGeom>
          <a:solidFill>
            <a:srgbClr val="9A8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6968" y="3685031"/>
            <a:ext cx="29352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EEF7FF"/>
                </a:solidFill>
                <a:latin typeface="微软雅黑"/>
              </a:defRPr>
            </a:pPr>
            <a:r>
              <a:t>业务转化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968" y="4087367"/>
            <a:ext cx="2935224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把 AI 结果变成交付物或服务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80560" y="3520439"/>
            <a:ext cx="3337560" cy="1417320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27E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480560" y="3520439"/>
            <a:ext cx="3337560" cy="381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681728" y="3685031"/>
            <a:ext cx="29352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EEF7FF"/>
                </a:solidFill>
                <a:latin typeface="微软雅黑"/>
              </a:defRPr>
            </a:pPr>
            <a:r>
              <a:t>工具整合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81728" y="4087367"/>
            <a:ext cx="2935224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文本、表格、图片、PPT、自动化组合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275320" y="3520439"/>
            <a:ext cx="3337560" cy="1417320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49EC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275320" y="3520439"/>
            <a:ext cx="3337560" cy="38100"/>
          </a:xfrm>
          <a:prstGeom prst="rect">
            <a:avLst/>
          </a:prstGeom>
          <a:solidFill>
            <a:srgbClr val="49EC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76488" y="3685031"/>
            <a:ext cx="29352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EEF7FF"/>
                </a:solidFill>
                <a:latin typeface="微软雅黑"/>
              </a:defRPr>
            </a:pPr>
            <a:r>
              <a:t>执行复盘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76488" y="4087367"/>
            <a:ext cx="2935224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形成模板、记录反馈、持续优化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87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9144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8288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7432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36576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45720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54864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008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0" y="-1005840"/>
            <a:ext cx="4023360" cy="4023360"/>
          </a:xfrm>
          <a:prstGeom prst="ellipse">
            <a:avLst/>
          </a:prstGeom>
          <a:solidFill>
            <a:srgbClr val="009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-1371600" y="5120640"/>
            <a:ext cx="4206240" cy="2194560"/>
          </a:xfrm>
          <a:prstGeom prst="ellipse">
            <a:avLst/>
          </a:prstGeom>
          <a:solidFill>
            <a:srgbClr val="34CE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84048"/>
            <a:ext cx="8961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EEF7FF"/>
                </a:solidFill>
                <a:latin typeface="微软雅黑"/>
              </a:defRPr>
            </a:pPr>
            <a:r>
              <a:t>现场自测：10 道题，每题 1-5 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932688"/>
            <a:ext cx="1143000" cy="381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78440" y="6437376"/>
            <a:ext cx="1097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0">
                <a:solidFill>
                  <a:srgbClr val="9AB2CD"/>
                </a:solidFill>
                <a:latin typeface="微软雅黑"/>
              </a:defRPr>
            </a:pPr>
            <a:r>
              <a:t>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631168" y="502920"/>
            <a:ext cx="38100" cy="57150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04672" y="1572768"/>
            <a:ext cx="4892040" cy="457200"/>
          </a:xfrm>
          <a:prstGeom prst="roundRect">
            <a:avLst/>
          </a:prstGeom>
          <a:solidFill>
            <a:srgbClr val="0D1E32"/>
          </a:solidFill>
          <a:ln w="10160">
            <a:solidFill>
              <a:srgbClr val="27E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0976" y="1682496"/>
            <a:ext cx="347472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27E0FF"/>
                </a:solidFill>
                <a:latin typeface="微软雅黑"/>
              </a:defRPr>
            </a:pPr>
            <a: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1664208"/>
            <a:ext cx="4160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EEF7FF"/>
                </a:solidFill>
                <a:latin typeface="微软雅黑"/>
              </a:defRPr>
            </a:pPr>
            <a:r>
              <a:t>我能清楚描述自己想解决的问题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" y="2322576"/>
            <a:ext cx="4892040" cy="457200"/>
          </a:xfrm>
          <a:prstGeom prst="roundRect">
            <a:avLst/>
          </a:prstGeom>
          <a:solidFill>
            <a:srgbClr val="0D1E32"/>
          </a:solidFill>
          <a:ln w="10160">
            <a:solidFill>
              <a:srgbClr val="27E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0976" y="2432304"/>
            <a:ext cx="347472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27E0FF"/>
                </a:solidFill>
                <a:latin typeface="微软雅黑"/>
              </a:defRPr>
            </a:pPr>
            <a: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35024" y="2414016"/>
            <a:ext cx="4160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EEF7FF"/>
                </a:solidFill>
                <a:latin typeface="微软雅黑"/>
              </a:defRPr>
            </a:pPr>
            <a:r>
              <a:t>我能给 AI 提供背景、目标、限制条件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4672" y="3072384"/>
            <a:ext cx="4892040" cy="457200"/>
          </a:xfrm>
          <a:prstGeom prst="roundRect">
            <a:avLst/>
          </a:prstGeom>
          <a:solidFill>
            <a:srgbClr val="0D1E32"/>
          </a:solidFill>
          <a:ln w="10160">
            <a:solidFill>
              <a:srgbClr val="27E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0976" y="3182112"/>
            <a:ext cx="347472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27E0FF"/>
                </a:solidFill>
                <a:latin typeface="微软雅黑"/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35024" y="3163824"/>
            <a:ext cx="4160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EEF7FF"/>
                </a:solidFill>
                <a:latin typeface="微软雅黑"/>
              </a:defRPr>
            </a:pPr>
            <a:r>
              <a:t>我能判断 AI 输出中哪些内容不可靠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4672" y="3822191"/>
            <a:ext cx="4892040" cy="457200"/>
          </a:xfrm>
          <a:prstGeom prst="roundRect">
            <a:avLst/>
          </a:prstGeom>
          <a:solidFill>
            <a:srgbClr val="0D1E32"/>
          </a:solidFill>
          <a:ln w="10160">
            <a:solidFill>
              <a:srgbClr val="27E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0976" y="3931919"/>
            <a:ext cx="347472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27E0FF"/>
                </a:solidFill>
                <a:latin typeface="微软雅黑"/>
              </a:defRPr>
            </a:pPr>
            <a: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35024" y="3913631"/>
            <a:ext cx="4160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EEF7FF"/>
                </a:solidFill>
                <a:latin typeface="微软雅黑"/>
              </a:defRPr>
            </a:pPr>
            <a:r>
              <a:t>我能让 AI 生成可直接使用的文档/表格/PPT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4672" y="4572000"/>
            <a:ext cx="4892040" cy="457200"/>
          </a:xfrm>
          <a:prstGeom prst="roundRect">
            <a:avLst/>
          </a:prstGeom>
          <a:solidFill>
            <a:srgbClr val="0D1E32"/>
          </a:solidFill>
          <a:ln w="10160">
            <a:solidFill>
              <a:srgbClr val="27E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0976" y="4681728"/>
            <a:ext cx="347472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27E0FF"/>
                </a:solidFill>
                <a:latin typeface="微软雅黑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35024" y="4663440"/>
            <a:ext cx="4160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EEF7FF"/>
                </a:solidFill>
                <a:latin typeface="微软雅黑"/>
              </a:defRPr>
            </a:pPr>
            <a:r>
              <a:t>我能把 AI 结果修改成适合自己业务的版本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99632" y="1572768"/>
            <a:ext cx="4892040" cy="457200"/>
          </a:xfrm>
          <a:prstGeom prst="roundRect">
            <a:avLst/>
          </a:prstGeom>
          <a:solidFill>
            <a:srgbClr val="0D1E32"/>
          </a:solidFill>
          <a:ln w="10160">
            <a:solidFill>
              <a:srgbClr val="49EC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45936" y="1682496"/>
            <a:ext cx="347472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27E0FF"/>
                </a:solidFill>
                <a:latin typeface="微软雅黑"/>
              </a:defRPr>
            </a:pPr>
            <a: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9984" y="1664208"/>
            <a:ext cx="4160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EEF7FF"/>
                </a:solidFill>
                <a:latin typeface="微软雅黑"/>
              </a:defRPr>
            </a:pPr>
            <a:r>
              <a:t>我至少掌握 3 个以上 AI 应用场景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99632" y="2322576"/>
            <a:ext cx="4892040" cy="457200"/>
          </a:xfrm>
          <a:prstGeom prst="roundRect">
            <a:avLst/>
          </a:prstGeom>
          <a:solidFill>
            <a:srgbClr val="0D1E32"/>
          </a:solidFill>
          <a:ln w="10160">
            <a:solidFill>
              <a:srgbClr val="49EC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45936" y="2432304"/>
            <a:ext cx="347472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27E0FF"/>
                </a:solidFill>
                <a:latin typeface="微软雅黑"/>
              </a:defRPr>
            </a:pPr>
            <a:r>
              <a:t>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9984" y="2414016"/>
            <a:ext cx="4160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EEF7FF"/>
                </a:solidFill>
                <a:latin typeface="微软雅黑"/>
              </a:defRPr>
            </a:pPr>
            <a:r>
              <a:t>我能把重复工作做成模板或流程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199632" y="3072384"/>
            <a:ext cx="4892040" cy="457200"/>
          </a:xfrm>
          <a:prstGeom prst="roundRect">
            <a:avLst/>
          </a:prstGeom>
          <a:solidFill>
            <a:srgbClr val="0D1E32"/>
          </a:solidFill>
          <a:ln w="10160">
            <a:solidFill>
              <a:srgbClr val="49EC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45936" y="3182112"/>
            <a:ext cx="347472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27E0FF"/>
                </a:solidFill>
                <a:latin typeface="微软雅黑"/>
              </a:defRPr>
            </a:pPr>
            <a: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29984" y="3163824"/>
            <a:ext cx="4160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EEF7FF"/>
                </a:solidFill>
                <a:latin typeface="微软雅黑"/>
              </a:defRPr>
            </a:pPr>
            <a:r>
              <a:t>我能用 AI 辅助内容、客户沟通或产品设计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99632" y="3822191"/>
            <a:ext cx="4892040" cy="457200"/>
          </a:xfrm>
          <a:prstGeom prst="roundRect">
            <a:avLst/>
          </a:prstGeom>
          <a:solidFill>
            <a:srgbClr val="0D1E32"/>
          </a:solidFill>
          <a:ln w="10160">
            <a:solidFill>
              <a:srgbClr val="49EC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45936" y="3931919"/>
            <a:ext cx="347472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27E0FF"/>
                </a:solidFill>
                <a:latin typeface="微软雅黑"/>
              </a:defRPr>
            </a:pPr>
            <a:r>
              <a:t>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29984" y="3913631"/>
            <a:ext cx="4160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EEF7FF"/>
                </a:solidFill>
                <a:latin typeface="微软雅黑"/>
              </a:defRPr>
            </a:pPr>
            <a:r>
              <a:t>我能持续复盘 AI 产出的效果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199632" y="4572000"/>
            <a:ext cx="4892040" cy="457200"/>
          </a:xfrm>
          <a:prstGeom prst="roundRect">
            <a:avLst/>
          </a:prstGeom>
          <a:solidFill>
            <a:srgbClr val="0D1E32"/>
          </a:solidFill>
          <a:ln w="10160">
            <a:solidFill>
              <a:srgbClr val="49EC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45936" y="4681728"/>
            <a:ext cx="347472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27E0FF"/>
                </a:solidFill>
                <a:latin typeface="微软雅黑"/>
              </a:defRPr>
            </a:pPr>
            <a:r>
              <a:t>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9984" y="4663440"/>
            <a:ext cx="4160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EEF7FF"/>
                </a:solidFill>
                <a:latin typeface="微软雅黑"/>
              </a:defRPr>
            </a:pPr>
            <a:r>
              <a:t>我知道下一步要改造哪个具体工作环节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" y="5669280"/>
            <a:ext cx="105156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FFBE54"/>
                </a:solidFill>
                <a:latin typeface="微软雅黑"/>
              </a:defRPr>
            </a:pPr>
            <a:r>
              <a:t>评分方式：1 分完全不会，3 分偶尔能做到，5 分可以稳定做到。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87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9144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8288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7432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36576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45720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54864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008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0" y="-1005840"/>
            <a:ext cx="4023360" cy="4023360"/>
          </a:xfrm>
          <a:prstGeom prst="ellipse">
            <a:avLst/>
          </a:prstGeom>
          <a:solidFill>
            <a:srgbClr val="009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-1371600" y="5120640"/>
            <a:ext cx="4206240" cy="2194560"/>
          </a:xfrm>
          <a:prstGeom prst="ellipse">
            <a:avLst/>
          </a:prstGeom>
          <a:solidFill>
            <a:srgbClr val="34CE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84048"/>
            <a:ext cx="8961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EEF7FF"/>
                </a:solidFill>
                <a:latin typeface="微软雅黑"/>
              </a:defRPr>
            </a:pPr>
            <a:r>
              <a:t>分数解释：四类 AI 使用者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932688"/>
            <a:ext cx="1143000" cy="381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78440" y="6437376"/>
            <a:ext cx="1097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0">
                <a:solidFill>
                  <a:srgbClr val="9AB2CD"/>
                </a:solidFill>
                <a:latin typeface="微软雅黑"/>
              </a:defRPr>
            </a:pPr>
            <a:r>
              <a:t>06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631168" y="502920"/>
            <a:ext cx="38100" cy="57150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713232" y="1600200"/>
          <a:ext cx="10789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417320"/>
                <a:gridCol w="3840480"/>
                <a:gridCol w="4297680"/>
              </a:tblGrid>
              <a:tr h="658368">
                <a:tc>
                  <a:txBody>
                    <a:bodyPr wrap="square"/>
                    <a:lstStyle/>
                    <a:p>
                      <a:pPr>
                        <a:defRPr sz="1050" b="1">
                          <a:solidFill>
                            <a:srgbClr val="EEF7FF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总分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122B4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50" b="1">
                          <a:solidFill>
                            <a:srgbClr val="EEF7FF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类型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122B4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50" b="1">
                          <a:solidFill>
                            <a:srgbClr val="EEF7FF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典型状态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122B4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50" b="1">
                          <a:solidFill>
                            <a:srgbClr val="EEF7FF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建议路径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122B44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10-20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入门型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知道 AI 重要，但还没有稳定使用习惯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从日常提效开始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21-35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应用型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能完成一些任务，但流程不稳定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建立个人 AI 工作流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36-45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生产型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能产出内容、方案或服务交付物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尝试产品化与标准化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46-50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操盘型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能用 AI 组织业务闭环和自动化系统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搭建 OPC 业务系统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960120" y="5349240"/>
            <a:ext cx="10149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49ECA9"/>
                </a:solidFill>
                <a:latin typeface="微软雅黑"/>
              </a:defRPr>
            </a:pPr>
            <a:r>
              <a:t>重点不是比较谁分高，而是找到每个人最值得开始的 AI 场景。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87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9144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8288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7432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36576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45720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54864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008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0" y="-1005840"/>
            <a:ext cx="4023360" cy="4023360"/>
          </a:xfrm>
          <a:prstGeom prst="ellipse">
            <a:avLst/>
          </a:prstGeom>
          <a:solidFill>
            <a:srgbClr val="009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-1371600" y="5120640"/>
            <a:ext cx="4206240" cy="2194560"/>
          </a:xfrm>
          <a:prstGeom prst="ellipse">
            <a:avLst/>
          </a:prstGeom>
          <a:solidFill>
            <a:srgbClr val="34CE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84048"/>
            <a:ext cx="8961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EEF7FF"/>
                </a:solidFill>
                <a:latin typeface="微软雅黑"/>
              </a:defRPr>
            </a:pPr>
            <a:r>
              <a:t>调研报告页 1：OPC 启动准备度测试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932688"/>
            <a:ext cx="1143000" cy="381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1024128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9AB2CD"/>
                </a:solidFill>
                <a:latin typeface="微软雅黑"/>
              </a:defRPr>
            </a:pPr>
            <a:r>
              <a:t>现场填写后，把结果分成“冲动探索、副业验证、服务启动、系统放大”四种状态。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78440" y="6437376"/>
            <a:ext cx="1097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0">
                <a:solidFill>
                  <a:srgbClr val="9AB2CD"/>
                </a:solidFill>
                <a:latin typeface="微软雅黑"/>
              </a:defRPr>
            </a:pPr>
            <a:r>
              <a:t>07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631168" y="502920"/>
            <a:ext cx="38100" cy="57150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594360" y="1353312"/>
          <a:ext cx="6629400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/>
                <a:gridCol w="3566160"/>
                <a:gridCol w="2103120"/>
              </a:tblGrid>
              <a:tr h="523240">
                <a:tc>
                  <a:txBody>
                    <a:bodyPr wrap="square"/>
                    <a:lstStyle/>
                    <a:p>
                      <a:pPr>
                        <a:defRPr sz="1050" b="1">
                          <a:solidFill>
                            <a:srgbClr val="EEF7FF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维度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122B4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50" b="1">
                          <a:solidFill>
                            <a:srgbClr val="EEF7FF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自测问题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122B4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50" b="1">
                          <a:solidFill>
                            <a:srgbClr val="EEF7FF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收集信息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122B44"/>
                    </a:solidFill>
                  </a:tcPr>
                </a:tc>
              </a:tr>
              <a:tr h="523240"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动机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是长期问题驱动，还是短期焦虑驱动？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创业动机 / 时间窗口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</a:tr>
              <a:tr h="523240"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客户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我能清楚说出目标客户是谁吗？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目标客户 / 人群标签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</a:tr>
              <a:tr h="523240"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痛点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客户是否有高频、刚需、有成本的问题？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具体痛点 / 当前代价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</a:tr>
              <a:tr h="523240"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反馈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我是否和真实潜在客户聊过？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访谈记录 / 明确反馈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</a:tr>
              <a:tr h="523240"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付费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客户为什么愿意付费，大概能付多少？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付费理由 / 价格带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</a:tr>
              <a:tr h="523240"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获客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30 天内能触达 50-100 个潜在客户吗？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渠道 / 私域 / 触达方式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</a:tr>
              <a:tr h="523240"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交付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能否做成清晰服务包或产品包？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服务边界 / 报价 / SOP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</a:tr>
              <a:tr h="523240"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风险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是否有 3-6 个月验证期和止损线？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</a:rPr>
                        <a:t>现金流 / 止损线</a:t>
                      </a:r>
                      <a:endParaRPr sz="18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7543800" y="1417320"/>
            <a:ext cx="3566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EEF7FF"/>
                </a:solidFill>
                <a:latin typeface="微软雅黑"/>
              </a:defRPr>
            </a:pPr>
            <a:r>
              <a:t>评分解释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43800" y="1874519"/>
            <a:ext cx="3794760" cy="512064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FF5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08392" y="1993391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FF5B6E"/>
                </a:solidFill>
                <a:latin typeface="微软雅黑"/>
              </a:defRPr>
            </a:pPr>
            <a:r>
              <a:t>8-16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9680" y="1993391"/>
            <a:ext cx="1325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EEF7FF"/>
                </a:solidFill>
                <a:latin typeface="微软雅黑"/>
              </a:defRPr>
            </a:pPr>
            <a:r>
              <a:t>冲动探索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32720" y="1993391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先做职业提效和客户访谈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543800" y="2542032"/>
            <a:ext cx="3794760" cy="512064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FFB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08392" y="2660904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FFBE54"/>
                </a:solidFill>
                <a:latin typeface="微软雅黑"/>
              </a:defRPr>
            </a:pPr>
            <a:r>
              <a:t>17-24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0" y="2660904"/>
            <a:ext cx="1325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EEF7FF"/>
                </a:solidFill>
                <a:latin typeface="微软雅黑"/>
              </a:defRPr>
            </a:pPr>
            <a:r>
              <a:t>副业验证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2720" y="2660904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用 30 天做最小验证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543800" y="3209544"/>
            <a:ext cx="3794760" cy="512064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49EC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08392" y="3328416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49ECA9"/>
                </a:solidFill>
                <a:latin typeface="微软雅黑"/>
              </a:defRPr>
            </a:pPr>
            <a:r>
              <a:t>25-30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69680" y="3328416"/>
            <a:ext cx="1325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EEF7FF"/>
                </a:solidFill>
                <a:latin typeface="微软雅黑"/>
              </a:defRPr>
            </a:pPr>
            <a:r>
              <a:t>服务启动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32720" y="33284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设计服务包并找真实试单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543800" y="3877056"/>
            <a:ext cx="3794760" cy="512064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27E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708392" y="3995928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27E0FF"/>
                </a:solidFill>
                <a:latin typeface="微软雅黑"/>
              </a:defRPr>
            </a:pPr>
            <a:r>
              <a:t>31-40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69680" y="3995928"/>
            <a:ext cx="1325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EEF7FF"/>
                </a:solidFill>
                <a:latin typeface="微软雅黑"/>
              </a:defRPr>
            </a:pPr>
            <a:r>
              <a:t>系统放大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32720" y="399592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沉淀 SOP、产品和渠道系统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543800" y="4736592"/>
            <a:ext cx="3794760" cy="950976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9A8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543800" y="4736592"/>
            <a:ext cx="3794760" cy="38100"/>
          </a:xfrm>
          <a:prstGeom prst="rect">
            <a:avLst/>
          </a:prstGeom>
          <a:solidFill>
            <a:srgbClr val="9A8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44968" y="4901184"/>
            <a:ext cx="33924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EEF7FF"/>
                </a:solidFill>
                <a:latin typeface="微软雅黑"/>
              </a:defRPr>
            </a:pPr>
            <a:r>
              <a:t>课堂动作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44968" y="5303520"/>
            <a:ext cx="339242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每题 1-5 分。重点不是证明自己适合创业，而是找到下一步最小验证。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87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9144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8288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7432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36576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45720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54864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008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0" y="-1005840"/>
            <a:ext cx="4023360" cy="4023360"/>
          </a:xfrm>
          <a:prstGeom prst="ellipse">
            <a:avLst/>
          </a:prstGeom>
          <a:solidFill>
            <a:srgbClr val="009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-1371600" y="5120640"/>
            <a:ext cx="4206240" cy="2194560"/>
          </a:xfrm>
          <a:prstGeom prst="ellipse">
            <a:avLst/>
          </a:prstGeom>
          <a:solidFill>
            <a:srgbClr val="34CE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84048"/>
            <a:ext cx="8961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EEF7FF"/>
                </a:solidFill>
                <a:latin typeface="微软雅黑"/>
              </a:defRPr>
            </a:pPr>
            <a:r>
              <a:t>调研报告页 2：我的 AI 状态适合从哪里启动？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932688"/>
            <a:ext cx="1143000" cy="381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1024128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9AB2CD"/>
                </a:solidFill>
                <a:latin typeface="微软雅黑"/>
              </a:defRPr>
            </a:pPr>
            <a:r>
              <a:t>把 AI 能力分数和启动准备度合并，给出第一场景和后续服务线索。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78440" y="6437376"/>
            <a:ext cx="1097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0">
                <a:solidFill>
                  <a:srgbClr val="9AB2CD"/>
                </a:solidFill>
                <a:latin typeface="微软雅黑"/>
              </a:defRPr>
            </a:pPr>
            <a:r>
              <a:t>08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631168" y="502920"/>
            <a:ext cx="38100" cy="57150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1353312"/>
            <a:ext cx="3566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EEF7FF"/>
                </a:solidFill>
                <a:latin typeface="微软雅黑"/>
              </a:defRPr>
            </a:pPr>
            <a:r>
              <a:t>先看两个分数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1810512"/>
            <a:ext cx="2697480" cy="1078992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FFB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5800" y="1810512"/>
            <a:ext cx="2697480" cy="38100"/>
          </a:xfrm>
          <a:prstGeom prst="rect">
            <a:avLst/>
          </a:prstGeom>
          <a:solidFill>
            <a:srgbClr val="FFBE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6968" y="1975104"/>
            <a:ext cx="22951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EEF7FF"/>
                </a:solidFill>
                <a:latin typeface="微软雅黑"/>
              </a:defRPr>
            </a:pPr>
            <a:r>
              <a:t>启动准备度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968" y="2377440"/>
            <a:ext cx="22951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8 个维度，每题 1-5 分。</a:t>
            </a:r>
            <a:br/>
            <a:r>
              <a:t>判断现在是探索、验证、启动还是放大。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0" y="1810512"/>
            <a:ext cx="2697480" cy="1078992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27E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0" y="1810512"/>
            <a:ext cx="2697480" cy="381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58768" y="1975104"/>
            <a:ext cx="22951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EEF7FF"/>
                </a:solidFill>
                <a:latin typeface="微软雅黑"/>
              </a:defRPr>
            </a:pPr>
            <a:r>
              <a:t>AI 能力分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58768" y="2377440"/>
            <a:ext cx="22951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10 道题，每题 1-5 分。</a:t>
            </a:r>
            <a:br/>
            <a:r>
              <a:t>判断是入门、应用、生产还是操盘。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685800" y="3246120"/>
          <a:ext cx="10789919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2606040"/>
                <a:gridCol w="3017520"/>
                <a:gridCol w="3291840"/>
              </a:tblGrid>
              <a:tr h="419100">
                <a:tc>
                  <a:txBody>
                    <a:bodyPr wrap="square"/>
                    <a:lstStyle/>
                    <a:p>
                      <a:pPr>
                        <a:defRPr sz="1050" b="1">
                          <a:solidFill>
                            <a:srgbClr val="EEF7FF"/>
                          </a:solidFill>
                          <a:latin typeface="微软雅黑"/>
                        </a:defRPr>
                      </a:pPr>
                      <a:r>
                        <a:rPr sz="1600">
                          <a:solidFill>
                            <a:schemeClr val="bg1"/>
                          </a:solidFill>
                        </a:rPr>
                        <a:t>组合状态</a:t>
                      </a:r>
                      <a:endParaRPr sz="16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122B4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50" b="1">
                          <a:solidFill>
                            <a:srgbClr val="EEF7FF"/>
                          </a:solidFill>
                          <a:latin typeface="微软雅黑"/>
                        </a:defRPr>
                      </a:pPr>
                      <a:r>
                        <a:rPr sz="1600">
                          <a:solidFill>
                            <a:schemeClr val="bg1"/>
                          </a:solidFill>
                        </a:rPr>
                        <a:t>最适合的启动方向</a:t>
                      </a:r>
                      <a:endParaRPr sz="16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122B4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50" b="1">
                          <a:solidFill>
                            <a:srgbClr val="EEF7FF"/>
                          </a:solidFill>
                          <a:latin typeface="微软雅黑"/>
                        </a:defRPr>
                      </a:pPr>
                      <a:r>
                        <a:rPr sz="1600">
                          <a:solidFill>
                            <a:schemeClr val="bg1"/>
                          </a:solidFill>
                        </a:rPr>
                        <a:t>第一份交付物</a:t>
                      </a:r>
                      <a:endParaRPr sz="16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122B4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50" b="1">
                          <a:solidFill>
                            <a:srgbClr val="EEF7FF"/>
                          </a:solidFill>
                          <a:latin typeface="微软雅黑"/>
                        </a:defRPr>
                      </a:pPr>
                      <a:r>
                        <a:rPr sz="1600">
                          <a:solidFill>
                            <a:schemeClr val="bg1"/>
                          </a:solidFill>
                        </a:rPr>
                        <a:t>后续服务线索</a:t>
                      </a:r>
                      <a:endParaRPr sz="16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122B44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600">
                          <a:solidFill>
                            <a:schemeClr val="bg1"/>
                          </a:solidFill>
                        </a:rPr>
                        <a:t>准备低 + AI 低</a:t>
                      </a:r>
                      <a:endParaRPr sz="16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600">
                          <a:solidFill>
                            <a:schemeClr val="bg1"/>
                          </a:solidFill>
                        </a:rPr>
                        <a:t>职业提效 / 客户访谈</a:t>
                      </a:r>
                      <a:endParaRPr sz="16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600">
                          <a:solidFill>
                            <a:schemeClr val="bg1"/>
                          </a:solidFill>
                        </a:rPr>
                        <a:t>工作流清单 + 10 个访谈问题</a:t>
                      </a:r>
                      <a:endParaRPr sz="16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600">
                          <a:solidFill>
                            <a:schemeClr val="bg1"/>
                          </a:solidFill>
                        </a:rPr>
                        <a:t>入门训练营</a:t>
                      </a:r>
                      <a:endParaRPr sz="16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600">
                          <a:solidFill>
                            <a:schemeClr val="bg1"/>
                          </a:solidFill>
                        </a:rPr>
                        <a:t>准备中 + AI 中</a:t>
                      </a:r>
                      <a:endParaRPr sz="16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600">
                          <a:solidFill>
                            <a:schemeClr val="bg1"/>
                          </a:solidFill>
                        </a:rPr>
                        <a:t>副业验证 / 内容获客</a:t>
                      </a:r>
                      <a:endParaRPr sz="16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600">
                          <a:solidFill>
                            <a:schemeClr val="bg1"/>
                          </a:solidFill>
                        </a:rPr>
                        <a:t>30 天验证计划 + 1 个试单方案</a:t>
                      </a:r>
                      <a:endParaRPr sz="16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600">
                          <a:solidFill>
                            <a:schemeClr val="bg1"/>
                          </a:solidFill>
                        </a:rPr>
                        <a:t>场景工作坊</a:t>
                      </a:r>
                      <a:endParaRPr sz="16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600">
                          <a:solidFill>
                            <a:schemeClr val="bg1"/>
                          </a:solidFill>
                        </a:rPr>
                        <a:t>准备高 + AI 中</a:t>
                      </a:r>
                      <a:endParaRPr sz="16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600">
                          <a:solidFill>
                            <a:schemeClr val="bg1"/>
                          </a:solidFill>
                        </a:rPr>
                        <a:t>服务型 OPC</a:t>
                      </a:r>
                      <a:endParaRPr sz="16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600">
                          <a:solidFill>
                            <a:schemeClr val="bg1"/>
                          </a:solidFill>
                        </a:rPr>
                        <a:t>服务包 + 报价单 + 交付 SOP</a:t>
                      </a:r>
                      <a:endParaRPr sz="16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600">
                          <a:solidFill>
                            <a:schemeClr val="bg1"/>
                          </a:solidFill>
                        </a:rPr>
                        <a:t>咨询陪跑</a:t>
                      </a:r>
                      <a:endParaRPr sz="16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600">
                          <a:solidFill>
                            <a:schemeClr val="bg1"/>
                          </a:solidFill>
                        </a:rPr>
                        <a:t>准备中高 + AI 高</a:t>
                      </a:r>
                      <a:endParaRPr sz="16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600">
                          <a:solidFill>
                            <a:schemeClr val="bg1"/>
                          </a:solidFill>
                        </a:rPr>
                        <a:t>工具化 / 产品化</a:t>
                      </a:r>
                      <a:endParaRPr sz="16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600">
                          <a:solidFill>
                            <a:schemeClr val="bg1"/>
                          </a:solidFill>
                        </a:rPr>
                        <a:t>模板产品 / 小工具 / 付费测试页</a:t>
                      </a:r>
                      <a:endParaRPr sz="16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600">
                          <a:solidFill>
                            <a:schemeClr val="bg1"/>
                          </a:solidFill>
                        </a:rPr>
                        <a:t>产品共创</a:t>
                      </a:r>
                      <a:endParaRPr sz="16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600">
                          <a:solidFill>
                            <a:schemeClr val="bg1"/>
                          </a:solidFill>
                        </a:rPr>
                        <a:t>准备高 + AI 高</a:t>
                      </a:r>
                      <a:endParaRPr sz="16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600">
                          <a:solidFill>
                            <a:schemeClr val="bg1"/>
                          </a:solidFill>
                        </a:rPr>
                        <a:t>一人公司系统</a:t>
                      </a:r>
                      <a:endParaRPr sz="16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600">
                          <a:solidFill>
                            <a:schemeClr val="bg1"/>
                          </a:solidFill>
                        </a:rPr>
                        <a:t>获客-交付-复盘自动化流程</a:t>
                      </a:r>
                      <a:endParaRPr sz="16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600">
                          <a:solidFill>
                            <a:schemeClr val="bg1"/>
                          </a:solidFill>
                        </a:rPr>
                        <a:t>系统搭建</a:t>
                      </a:r>
                      <a:endParaRPr sz="1600">
                        <a:solidFill>
                          <a:schemeClr val="bg1"/>
                        </a:solidFill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87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9144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8288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7432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36576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45720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54864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008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0" y="-1005840"/>
            <a:ext cx="4023360" cy="4023360"/>
          </a:xfrm>
          <a:prstGeom prst="ellipse">
            <a:avLst/>
          </a:prstGeom>
          <a:solidFill>
            <a:srgbClr val="009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-1371600" y="5120640"/>
            <a:ext cx="4206240" cy="2194560"/>
          </a:xfrm>
          <a:prstGeom prst="ellipse">
            <a:avLst/>
          </a:prstGeom>
          <a:solidFill>
            <a:srgbClr val="34CE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84048"/>
            <a:ext cx="8961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EEF7FF"/>
                </a:solidFill>
                <a:latin typeface="微软雅黑"/>
              </a:defRPr>
            </a:pPr>
            <a:r>
              <a:t>六类人群画像总览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932688"/>
            <a:ext cx="1143000" cy="381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78440" y="6437376"/>
            <a:ext cx="1097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0">
                <a:solidFill>
                  <a:srgbClr val="9AB2CD"/>
                </a:solidFill>
                <a:latin typeface="微软雅黑"/>
              </a:defRPr>
            </a:pPr>
            <a:r>
              <a:t>09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631168" y="502920"/>
            <a:ext cx="38100" cy="57150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77240" y="1554480"/>
            <a:ext cx="3246120" cy="1325880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27E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1554480"/>
            <a:ext cx="3246120" cy="381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" y="1719072"/>
            <a:ext cx="28437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EEF7FF"/>
                </a:solidFill>
                <a:latin typeface="微软雅黑"/>
              </a:defRPr>
            </a:pPr>
            <a:r>
              <a:t>职场转型型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8408" y="2121408"/>
            <a:ext cx="2843784" cy="612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保饭碗 / 提效率 / 找副业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0" y="1554480"/>
            <a:ext cx="3246120" cy="1325880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49EC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0" y="1554480"/>
            <a:ext cx="3246120" cy="38100"/>
          </a:xfrm>
          <a:prstGeom prst="rect">
            <a:avLst/>
          </a:prstGeom>
          <a:solidFill>
            <a:srgbClr val="49EC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73168" y="1719072"/>
            <a:ext cx="28437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EEF7FF"/>
                </a:solidFill>
                <a:latin typeface="微软雅黑"/>
              </a:defRPr>
            </a:pPr>
            <a:r>
              <a:t>个体创业型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73168" y="2121408"/>
            <a:ext cx="2843784" cy="612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获客 / 交付 / 标准化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66760" y="1554480"/>
            <a:ext cx="3246120" cy="1325880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FFB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366760" y="1554480"/>
            <a:ext cx="3246120" cy="38100"/>
          </a:xfrm>
          <a:prstGeom prst="rect">
            <a:avLst/>
          </a:prstGeom>
          <a:solidFill>
            <a:srgbClr val="FFBE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67928" y="1719072"/>
            <a:ext cx="28437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EEF7FF"/>
                </a:solidFill>
                <a:latin typeface="微软雅黑"/>
              </a:defRPr>
            </a:pPr>
            <a:r>
              <a:t>老板管理型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67928" y="2121408"/>
            <a:ext cx="2843784" cy="612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降本增效 / 团队改造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7240" y="3474720"/>
            <a:ext cx="3246120" cy="1325880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9A8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77240" y="3474720"/>
            <a:ext cx="3246120" cy="38100"/>
          </a:xfrm>
          <a:prstGeom prst="rect">
            <a:avLst/>
          </a:prstGeom>
          <a:solidFill>
            <a:srgbClr val="9A8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8408" y="3639312"/>
            <a:ext cx="28437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EEF7FF"/>
                </a:solidFill>
                <a:latin typeface="微软雅黑"/>
              </a:defRPr>
            </a:pPr>
            <a:r>
              <a:t>内容创作者型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8408" y="4041648"/>
            <a:ext cx="2843784" cy="612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持续产出 / 定位 / 转化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0" y="3474720"/>
            <a:ext cx="3246120" cy="1325880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27E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572000" y="3474720"/>
            <a:ext cx="3246120" cy="381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73168" y="3639312"/>
            <a:ext cx="28437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EEF7FF"/>
                </a:solidFill>
                <a:latin typeface="微软雅黑"/>
              </a:defRPr>
            </a:pPr>
            <a:r>
              <a:t>技术产品型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73168" y="4041648"/>
            <a:ext cx="2843784" cy="612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工具化 / 自动化 / 商业验证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366760" y="3474720"/>
            <a:ext cx="3246120" cy="1325880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49EC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366760" y="3474720"/>
            <a:ext cx="3246120" cy="38100"/>
          </a:xfrm>
          <a:prstGeom prst="rect">
            <a:avLst/>
          </a:prstGeom>
          <a:solidFill>
            <a:srgbClr val="49EC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567928" y="3639312"/>
            <a:ext cx="28437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EEF7FF"/>
                </a:solidFill>
                <a:latin typeface="微软雅黑"/>
              </a:defRPr>
            </a:pPr>
            <a:r>
              <a:t>学习成长型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67928" y="4041648"/>
            <a:ext cx="2843784" cy="612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入门 / 学习 / 找方向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87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9144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8288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7432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36576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45720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54864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008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0" y="-1005840"/>
            <a:ext cx="4023360" cy="4023360"/>
          </a:xfrm>
          <a:prstGeom prst="ellipse">
            <a:avLst/>
          </a:prstGeom>
          <a:solidFill>
            <a:srgbClr val="009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-1371600" y="5120640"/>
            <a:ext cx="4206240" cy="2194560"/>
          </a:xfrm>
          <a:prstGeom prst="ellipse">
            <a:avLst/>
          </a:prstGeom>
          <a:solidFill>
            <a:srgbClr val="34CE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84048"/>
            <a:ext cx="8961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EEF7FF"/>
                </a:solidFill>
                <a:latin typeface="微软雅黑"/>
              </a:defRPr>
            </a:pPr>
            <a:r>
              <a:t>画像一：职场转型型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932688"/>
            <a:ext cx="1143000" cy="381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1024128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9AB2CD"/>
                </a:solidFill>
                <a:latin typeface="微软雅黑"/>
              </a:defRPr>
            </a:pPr>
            <a:r>
              <a:t>行政、人事、运营、销售、客服、传统行业从业者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78440" y="6437376"/>
            <a:ext cx="1097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0">
                <a:solidFill>
                  <a:srgbClr val="9AB2CD"/>
                </a:solidFill>
                <a:latin typeface="微软雅黑"/>
              </a:defRPr>
            </a:pPr>
            <a:r>
              <a:t>10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631168" y="502920"/>
            <a:ext cx="38100" cy="57150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85800" y="1508760"/>
            <a:ext cx="3383280" cy="1325880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27E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5800" y="1508760"/>
            <a:ext cx="3383280" cy="381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6968" y="167335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EEF7FF"/>
                </a:solidFill>
                <a:latin typeface="微软雅黑"/>
              </a:defRPr>
            </a:pPr>
            <a:r>
              <a:t>核心诉求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" y="2075688"/>
            <a:ext cx="2980944" cy="612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担心被 AI 淘汰，希望提升竞争力，发展副业。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43400" y="1508760"/>
            <a:ext cx="3383280" cy="1325880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FFB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43400" y="1508760"/>
            <a:ext cx="3383280" cy="38100"/>
          </a:xfrm>
          <a:prstGeom prst="rect">
            <a:avLst/>
          </a:prstGeom>
          <a:solidFill>
            <a:srgbClr val="FFBE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44568" y="167335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EEF7FF"/>
                </a:solidFill>
                <a:latin typeface="微软雅黑"/>
              </a:defRPr>
            </a:pPr>
            <a:r>
              <a:t>典型问题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44568" y="2075688"/>
            <a:ext cx="2980944" cy="612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会用一点 AI，但常停留在写文案、写总结。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01000" y="1508760"/>
            <a:ext cx="3383280" cy="1325880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FF5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01000" y="1508760"/>
            <a:ext cx="3383280" cy="38100"/>
          </a:xfrm>
          <a:prstGeom prst="rect">
            <a:avLst/>
          </a:prstGeom>
          <a:solidFill>
            <a:srgbClr val="FF5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02168" y="167335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EEF7FF"/>
                </a:solidFill>
                <a:latin typeface="微软雅黑"/>
              </a:defRPr>
            </a:pPr>
            <a:r>
              <a:t>能力短板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02168" y="2075688"/>
            <a:ext cx="2980944" cy="612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问题定义弱；工具整合弱；业务转化意识不足。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3127248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EEF7FF"/>
                </a:solidFill>
                <a:latin typeface="微软雅黑"/>
              </a:defRPr>
            </a:pPr>
            <a:r>
              <a:t>适合切入场景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26970" y="3435350"/>
            <a:ext cx="47548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EEF7FF"/>
                </a:solidFill>
                <a:latin typeface="微软雅黑"/>
              </a:defRPr>
            </a:pPr>
            <a:r>
              <a:t>简历优化</a:t>
            </a:r>
          </a:p>
          <a:p>
            <a:pPr>
              <a:spcAft>
                <a:spcPts val="600"/>
              </a:spcAft>
              <a:defRPr sz="1300">
                <a:solidFill>
                  <a:srgbClr val="EEF7FF"/>
                </a:solidFill>
                <a:latin typeface="微软雅黑"/>
              </a:defRPr>
            </a:pPr>
            <a:r>
              <a:t>工作汇报</a:t>
            </a:r>
          </a:p>
          <a:p>
            <a:pPr>
              <a:spcAft>
                <a:spcPts val="600"/>
              </a:spcAft>
              <a:defRPr sz="1300">
                <a:solidFill>
                  <a:srgbClr val="EEF7FF"/>
                </a:solidFill>
                <a:latin typeface="微软雅黑"/>
              </a:defRPr>
            </a:pPr>
            <a:r>
              <a:t>SOP 编写</a:t>
            </a:r>
          </a:p>
          <a:p>
            <a:pPr>
              <a:spcAft>
                <a:spcPts val="600"/>
              </a:spcAft>
              <a:defRPr sz="1300">
                <a:solidFill>
                  <a:srgbClr val="EEF7FF"/>
                </a:solidFill>
                <a:latin typeface="微软雅黑"/>
              </a:defRPr>
            </a:pPr>
            <a:r>
              <a:t>客户话术</a:t>
            </a:r>
          </a:p>
          <a:p>
            <a:pPr>
              <a:spcAft>
                <a:spcPts val="600"/>
              </a:spcAft>
              <a:defRPr sz="1300">
                <a:solidFill>
                  <a:srgbClr val="EEF7FF"/>
                </a:solidFill>
                <a:latin typeface="微软雅黑"/>
              </a:defRPr>
            </a:pPr>
            <a:r>
              <a:t>资料整理</a:t>
            </a:r>
          </a:p>
          <a:p>
            <a:pPr>
              <a:spcAft>
                <a:spcPts val="600"/>
              </a:spcAft>
              <a:defRPr sz="1300">
                <a:solidFill>
                  <a:srgbClr val="EEF7FF"/>
                </a:solidFill>
                <a:latin typeface="微软雅黑"/>
              </a:defRPr>
            </a:pPr>
            <a:r>
              <a:t>副业内容生产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897880" y="3337560"/>
            <a:ext cx="5440680" cy="2103120"/>
          </a:xfrm>
          <a:prstGeom prst="roundRect">
            <a:avLst/>
          </a:prstGeom>
          <a:solidFill>
            <a:srgbClr val="091B2D"/>
          </a:solidFill>
          <a:ln w="15240">
            <a:solidFill>
              <a:srgbClr val="27E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36208" y="3703320"/>
            <a:ext cx="47091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EEF7FF"/>
                </a:solidFill>
                <a:latin typeface="微软雅黑"/>
              </a:defRPr>
            </a:pPr>
            <a:r>
              <a:t>先把 AI 用进每天的工作流，从“会问 AI”变成“用 AI 交付更好的工作成果”。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87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9144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8288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7432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36576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45720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54864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008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0" y="-1005840"/>
            <a:ext cx="4023360" cy="4023360"/>
          </a:xfrm>
          <a:prstGeom prst="ellipse">
            <a:avLst/>
          </a:prstGeom>
          <a:solidFill>
            <a:srgbClr val="009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-1371600" y="5120640"/>
            <a:ext cx="4206240" cy="2194560"/>
          </a:xfrm>
          <a:prstGeom prst="ellipse">
            <a:avLst/>
          </a:prstGeom>
          <a:solidFill>
            <a:srgbClr val="34CE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84048"/>
            <a:ext cx="8961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EEF7FF"/>
                </a:solidFill>
                <a:latin typeface="微软雅黑"/>
              </a:defRPr>
            </a:pPr>
            <a:r>
              <a:t>画像二：个体创业 / 自由职业型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932688"/>
            <a:ext cx="1143000" cy="381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1024128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9AB2CD"/>
                </a:solidFill>
                <a:latin typeface="微软雅黑"/>
              </a:defRPr>
            </a:pPr>
            <a:r>
              <a:t>咨询师、设计师、培训师、摄影师、教练、自由顾问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78440" y="6437376"/>
            <a:ext cx="1097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0">
                <a:solidFill>
                  <a:srgbClr val="9AB2CD"/>
                </a:solidFill>
                <a:latin typeface="微软雅黑"/>
              </a:defRPr>
            </a:pPr>
            <a:r>
              <a:t>11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631168" y="502920"/>
            <a:ext cx="38100" cy="57150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85800" y="1508760"/>
            <a:ext cx="3383280" cy="1325880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49EC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5800" y="1508760"/>
            <a:ext cx="3383280" cy="38100"/>
          </a:xfrm>
          <a:prstGeom prst="rect">
            <a:avLst/>
          </a:prstGeom>
          <a:solidFill>
            <a:srgbClr val="49EC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6968" y="167335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EEF7FF"/>
                </a:solidFill>
                <a:latin typeface="微软雅黑"/>
              </a:defRPr>
            </a:pPr>
            <a:r>
              <a:t>核心诉求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" y="2075688"/>
            <a:ext cx="2980944" cy="612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提升获客、内容生产和客户交付效率。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43400" y="1508760"/>
            <a:ext cx="3383280" cy="1325880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FFB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43400" y="1508760"/>
            <a:ext cx="3383280" cy="38100"/>
          </a:xfrm>
          <a:prstGeom prst="rect">
            <a:avLst/>
          </a:prstGeom>
          <a:solidFill>
            <a:srgbClr val="FFBE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44568" y="167335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EEF7FF"/>
                </a:solidFill>
                <a:latin typeface="微软雅黑"/>
              </a:defRPr>
            </a:pPr>
            <a:r>
              <a:t>典型问题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44568" y="2075688"/>
            <a:ext cx="2980944" cy="612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专业能力有，但表达、包装、营销和交付标准化不足。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01000" y="1508760"/>
            <a:ext cx="3383280" cy="1325880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FF5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01000" y="1508760"/>
            <a:ext cx="3383280" cy="38100"/>
          </a:xfrm>
          <a:prstGeom prst="rect">
            <a:avLst/>
          </a:prstGeom>
          <a:solidFill>
            <a:srgbClr val="FF5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02168" y="167335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EEF7FF"/>
                </a:solidFill>
                <a:latin typeface="微软雅黑"/>
              </a:defRPr>
            </a:pPr>
            <a:r>
              <a:t>能力短板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02168" y="2075688"/>
            <a:ext cx="2980944" cy="612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产品化不足；流程沉淀不足；内容矩阵不足。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3127248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EEF7FF"/>
                </a:solidFill>
                <a:latin typeface="微软雅黑"/>
              </a:defRPr>
            </a:pPr>
            <a:r>
              <a:t>适合切入场景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60320" y="3566160"/>
            <a:ext cx="47548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EEF7FF"/>
                </a:solidFill>
                <a:latin typeface="微软雅黑"/>
              </a:defRPr>
            </a:pPr>
            <a:r>
              <a:t>客户画像分析</a:t>
            </a:r>
          </a:p>
          <a:p>
            <a:pPr>
              <a:spcAft>
                <a:spcPts val="600"/>
              </a:spcAft>
              <a:defRPr sz="1300">
                <a:solidFill>
                  <a:srgbClr val="EEF7FF"/>
                </a:solidFill>
                <a:latin typeface="微软雅黑"/>
              </a:defRPr>
            </a:pPr>
            <a:r>
              <a:t>内容选题库</a:t>
            </a:r>
          </a:p>
          <a:p>
            <a:pPr>
              <a:spcAft>
                <a:spcPts val="600"/>
              </a:spcAft>
              <a:defRPr sz="1300">
                <a:solidFill>
                  <a:srgbClr val="EEF7FF"/>
                </a:solidFill>
                <a:latin typeface="微软雅黑"/>
              </a:defRPr>
            </a:pPr>
            <a:r>
              <a:t>咨询方案</a:t>
            </a:r>
          </a:p>
          <a:p>
            <a:pPr>
              <a:spcAft>
                <a:spcPts val="600"/>
              </a:spcAft>
              <a:defRPr sz="1300">
                <a:solidFill>
                  <a:srgbClr val="EEF7FF"/>
                </a:solidFill>
                <a:latin typeface="微软雅黑"/>
              </a:defRPr>
            </a:pPr>
            <a:r>
              <a:t>报告模板</a:t>
            </a:r>
          </a:p>
          <a:p>
            <a:pPr>
              <a:spcAft>
                <a:spcPts val="600"/>
              </a:spcAft>
              <a:defRPr sz="1300">
                <a:solidFill>
                  <a:srgbClr val="EEF7FF"/>
                </a:solidFill>
                <a:latin typeface="微软雅黑"/>
              </a:defRPr>
            </a:pPr>
            <a:r>
              <a:t>课程大纲</a:t>
            </a:r>
          </a:p>
          <a:p>
            <a:pPr>
              <a:spcAft>
                <a:spcPts val="600"/>
              </a:spcAft>
              <a:defRPr sz="1300">
                <a:solidFill>
                  <a:srgbClr val="EEF7FF"/>
                </a:solidFill>
                <a:latin typeface="微软雅黑"/>
              </a:defRPr>
            </a:pPr>
            <a:r>
              <a:t>服务 SOP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897880" y="3337560"/>
            <a:ext cx="5440680" cy="2103120"/>
          </a:xfrm>
          <a:prstGeom prst="roundRect">
            <a:avLst/>
          </a:prstGeom>
          <a:solidFill>
            <a:srgbClr val="091B2D"/>
          </a:solidFill>
          <a:ln w="15240">
            <a:solidFill>
              <a:srgbClr val="49EC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36208" y="3703320"/>
            <a:ext cx="47091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EEF7FF"/>
                </a:solidFill>
                <a:latin typeface="微软雅黑"/>
              </a:defRPr>
            </a:pPr>
            <a:r>
              <a:t>让 AI 帮你把专业表达清楚、包装清楚、交付稳定，而不是替代你的专业。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87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9144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8288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7432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36576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45720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54864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008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0" y="-1005840"/>
            <a:ext cx="4023360" cy="4023360"/>
          </a:xfrm>
          <a:prstGeom prst="ellipse">
            <a:avLst/>
          </a:prstGeom>
          <a:solidFill>
            <a:srgbClr val="009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-1371600" y="5120640"/>
            <a:ext cx="4206240" cy="2194560"/>
          </a:xfrm>
          <a:prstGeom prst="ellipse">
            <a:avLst/>
          </a:prstGeom>
          <a:solidFill>
            <a:srgbClr val="34CE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84048"/>
            <a:ext cx="8961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EEF7FF"/>
                </a:solidFill>
                <a:latin typeface="微软雅黑"/>
              </a:defRPr>
            </a:pPr>
            <a:r>
              <a:t>画像三：老板 / 管理者型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932688"/>
            <a:ext cx="1143000" cy="381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1024128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9AB2CD"/>
                </a:solidFill>
                <a:latin typeface="微软雅黑"/>
              </a:defRPr>
            </a:pPr>
            <a:r>
              <a:t>中小企业老板、门店老板、团队负责人、项目负责人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78440" y="6437376"/>
            <a:ext cx="1097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0">
                <a:solidFill>
                  <a:srgbClr val="9AB2CD"/>
                </a:solidFill>
                <a:latin typeface="微软雅黑"/>
              </a:defRPr>
            </a:pPr>
            <a:r>
              <a:t>12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631168" y="502920"/>
            <a:ext cx="38100" cy="57150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85800" y="1508760"/>
            <a:ext cx="3383280" cy="1325880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FFB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5800" y="1508760"/>
            <a:ext cx="3383280" cy="38100"/>
          </a:xfrm>
          <a:prstGeom prst="rect">
            <a:avLst/>
          </a:prstGeom>
          <a:solidFill>
            <a:srgbClr val="FFBE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6968" y="167335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EEF7FF"/>
                </a:solidFill>
                <a:latin typeface="微软雅黑"/>
              </a:defRPr>
            </a:pPr>
            <a:r>
              <a:t>核心诉求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" y="2075688"/>
            <a:ext cx="2980944" cy="612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降本增效，让团队真正把 AI 用起来。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43400" y="1508760"/>
            <a:ext cx="3383280" cy="1325880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FFB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43400" y="1508760"/>
            <a:ext cx="3383280" cy="38100"/>
          </a:xfrm>
          <a:prstGeom prst="rect">
            <a:avLst/>
          </a:prstGeom>
          <a:solidFill>
            <a:srgbClr val="FFBE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44568" y="167335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EEF7FF"/>
                </a:solidFill>
                <a:latin typeface="微软雅黑"/>
              </a:defRPr>
            </a:pPr>
            <a:r>
              <a:t>典型问题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44568" y="2075688"/>
            <a:ext cx="2980944" cy="612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自己知道 AI 重要，但团队不会用，也缺落地机制。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01000" y="1508760"/>
            <a:ext cx="3383280" cy="1325880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FF5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01000" y="1508760"/>
            <a:ext cx="3383280" cy="38100"/>
          </a:xfrm>
          <a:prstGeom prst="rect">
            <a:avLst/>
          </a:prstGeom>
          <a:solidFill>
            <a:srgbClr val="FF5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02168" y="167335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EEF7FF"/>
                </a:solidFill>
                <a:latin typeface="微软雅黑"/>
              </a:defRPr>
            </a:pPr>
            <a:r>
              <a:t>能力短板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02168" y="2075688"/>
            <a:ext cx="2980944" cy="612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场景识别弱；流程改造弱；团队规范不足。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3127248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EEF7FF"/>
                </a:solidFill>
                <a:latin typeface="微软雅黑"/>
              </a:defRPr>
            </a:pPr>
            <a:r>
              <a:t>适合切入场景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71800" y="3566160"/>
            <a:ext cx="47548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EEF7FF"/>
                </a:solidFill>
                <a:latin typeface="微软雅黑"/>
              </a:defRPr>
            </a:pPr>
            <a:r>
              <a:t>销售话术库</a:t>
            </a:r>
          </a:p>
          <a:p>
            <a:pPr>
              <a:spcAft>
                <a:spcPts val="600"/>
              </a:spcAft>
              <a:defRPr sz="1300">
                <a:solidFill>
                  <a:srgbClr val="EEF7FF"/>
                </a:solidFill>
                <a:latin typeface="微软雅黑"/>
              </a:defRPr>
            </a:pPr>
            <a:r>
              <a:t>客户 FAQ</a:t>
            </a:r>
          </a:p>
          <a:p>
            <a:pPr>
              <a:spcAft>
                <a:spcPts val="600"/>
              </a:spcAft>
              <a:defRPr sz="1300">
                <a:solidFill>
                  <a:srgbClr val="EEF7FF"/>
                </a:solidFill>
                <a:latin typeface="微软雅黑"/>
              </a:defRPr>
            </a:pPr>
            <a:r>
              <a:t>员工培训资料</a:t>
            </a:r>
          </a:p>
          <a:p>
            <a:pPr>
              <a:spcAft>
                <a:spcPts val="600"/>
              </a:spcAft>
              <a:defRPr sz="1300">
                <a:solidFill>
                  <a:srgbClr val="EEF7FF"/>
                </a:solidFill>
                <a:latin typeface="微软雅黑"/>
              </a:defRPr>
            </a:pPr>
            <a:r>
              <a:t>会议纪要</a:t>
            </a:r>
          </a:p>
          <a:p>
            <a:pPr>
              <a:spcAft>
                <a:spcPts val="600"/>
              </a:spcAft>
              <a:defRPr sz="1300">
                <a:solidFill>
                  <a:srgbClr val="EEF7FF"/>
                </a:solidFill>
                <a:latin typeface="微软雅黑"/>
              </a:defRPr>
            </a:pPr>
            <a:r>
              <a:t>竞品分析</a:t>
            </a:r>
          </a:p>
          <a:p>
            <a:pPr>
              <a:spcAft>
                <a:spcPts val="600"/>
              </a:spcAft>
              <a:defRPr sz="1300">
                <a:solidFill>
                  <a:srgbClr val="EEF7FF"/>
                </a:solidFill>
                <a:latin typeface="微软雅黑"/>
              </a:defRPr>
            </a:pPr>
            <a:r>
              <a:t>经营数据解读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897880" y="3337560"/>
            <a:ext cx="5440680" cy="2103120"/>
          </a:xfrm>
          <a:prstGeom prst="roundRect">
            <a:avLst/>
          </a:prstGeom>
          <a:solidFill>
            <a:srgbClr val="091B2D"/>
          </a:solidFill>
          <a:ln w="15240">
            <a:solidFill>
              <a:srgbClr val="FFB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36208" y="3703320"/>
            <a:ext cx="47091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EEF7FF"/>
                </a:solidFill>
                <a:latin typeface="微软雅黑"/>
              </a:defRPr>
            </a:pPr>
            <a:r>
              <a:t>老板学 AI，是为了重新设计团队工作方式，优先改造高频、重复、标准化环节。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87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9144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8288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7432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36576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45720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54864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008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0" y="-1005840"/>
            <a:ext cx="4023360" cy="4023360"/>
          </a:xfrm>
          <a:prstGeom prst="ellipse">
            <a:avLst/>
          </a:prstGeom>
          <a:solidFill>
            <a:srgbClr val="009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-1371600" y="5120640"/>
            <a:ext cx="4206240" cy="2194560"/>
          </a:xfrm>
          <a:prstGeom prst="ellipse">
            <a:avLst/>
          </a:prstGeom>
          <a:solidFill>
            <a:srgbClr val="34CE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84048"/>
            <a:ext cx="8961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EEF7FF"/>
                </a:solidFill>
                <a:latin typeface="微软雅黑"/>
              </a:defRPr>
            </a:pPr>
            <a:r>
              <a:t>画像四：内容创作者型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932688"/>
            <a:ext cx="1143000" cy="381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1024128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9AB2CD"/>
                </a:solidFill>
                <a:latin typeface="微软雅黑"/>
              </a:defRPr>
            </a:pPr>
            <a:r>
              <a:t>自媒体人、博主、主播、知识付费从业者、短视频创作者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78440" y="6437376"/>
            <a:ext cx="1097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0">
                <a:solidFill>
                  <a:srgbClr val="9AB2CD"/>
                </a:solidFill>
                <a:latin typeface="微软雅黑"/>
              </a:defRPr>
            </a:pPr>
            <a:r>
              <a:t>13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631168" y="502920"/>
            <a:ext cx="38100" cy="57150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85800" y="1508760"/>
            <a:ext cx="3383280" cy="1325880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9A8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5800" y="1508760"/>
            <a:ext cx="3383280" cy="38100"/>
          </a:xfrm>
          <a:prstGeom prst="rect">
            <a:avLst/>
          </a:prstGeom>
          <a:solidFill>
            <a:srgbClr val="9A8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6968" y="167335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EEF7FF"/>
                </a:solidFill>
                <a:latin typeface="微软雅黑"/>
              </a:defRPr>
            </a:pPr>
            <a:r>
              <a:t>核心诉求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" y="2075688"/>
            <a:ext cx="2980944" cy="612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持续产出内容，提升传播和商业转化。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43400" y="1508760"/>
            <a:ext cx="3383280" cy="1325880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FFB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43400" y="1508760"/>
            <a:ext cx="3383280" cy="38100"/>
          </a:xfrm>
          <a:prstGeom prst="rect">
            <a:avLst/>
          </a:prstGeom>
          <a:solidFill>
            <a:srgbClr val="FFBE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44568" y="167335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EEF7FF"/>
                </a:solidFill>
                <a:latin typeface="微软雅黑"/>
              </a:defRPr>
            </a:pPr>
            <a:r>
              <a:t>典型问题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44568" y="2075688"/>
            <a:ext cx="2980944" cy="612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灵感不稳定，内容同质化，有流量但产品承接弱。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01000" y="1508760"/>
            <a:ext cx="3383280" cy="1325880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FF5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01000" y="1508760"/>
            <a:ext cx="3383280" cy="38100"/>
          </a:xfrm>
          <a:prstGeom prst="rect">
            <a:avLst/>
          </a:prstGeom>
          <a:solidFill>
            <a:srgbClr val="FF5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02168" y="167335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EEF7FF"/>
                </a:solidFill>
                <a:latin typeface="微软雅黑"/>
              </a:defRPr>
            </a:pPr>
            <a:r>
              <a:t>能力短板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02168" y="2075688"/>
            <a:ext cx="2980944" cy="612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选题判断弱；用户洞察弱；商业闭环不清。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3127248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EEF7FF"/>
                </a:solidFill>
                <a:latin typeface="微软雅黑"/>
              </a:defRPr>
            </a:pPr>
            <a:r>
              <a:t>适合切入场景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34640" y="3566160"/>
            <a:ext cx="47548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EEF7FF"/>
                </a:solidFill>
                <a:latin typeface="微软雅黑"/>
              </a:defRPr>
            </a:pPr>
            <a:r>
              <a:t>选题库</a:t>
            </a:r>
          </a:p>
          <a:p>
            <a:pPr>
              <a:spcAft>
                <a:spcPts val="600"/>
              </a:spcAft>
              <a:defRPr sz="1300">
                <a:solidFill>
                  <a:srgbClr val="EEF7FF"/>
                </a:solidFill>
                <a:latin typeface="微软雅黑"/>
              </a:defRPr>
            </a:pPr>
            <a:r>
              <a:t>标题分析</a:t>
            </a:r>
          </a:p>
          <a:p>
            <a:pPr>
              <a:spcAft>
                <a:spcPts val="600"/>
              </a:spcAft>
              <a:defRPr sz="1300">
                <a:solidFill>
                  <a:srgbClr val="EEF7FF"/>
                </a:solidFill>
                <a:latin typeface="微软雅黑"/>
              </a:defRPr>
            </a:pPr>
            <a:r>
              <a:t>脚本生成</a:t>
            </a:r>
          </a:p>
          <a:p>
            <a:pPr>
              <a:spcAft>
                <a:spcPts val="600"/>
              </a:spcAft>
              <a:defRPr sz="1300">
                <a:solidFill>
                  <a:srgbClr val="EEF7FF"/>
                </a:solidFill>
                <a:latin typeface="微软雅黑"/>
              </a:defRPr>
            </a:pPr>
            <a:r>
              <a:t>图文改写</a:t>
            </a:r>
          </a:p>
          <a:p>
            <a:pPr>
              <a:spcAft>
                <a:spcPts val="600"/>
              </a:spcAft>
              <a:defRPr sz="1300">
                <a:solidFill>
                  <a:srgbClr val="EEF7FF"/>
                </a:solidFill>
                <a:latin typeface="微软雅黑"/>
              </a:defRPr>
            </a:pPr>
            <a:r>
              <a:t>直播大纲</a:t>
            </a:r>
          </a:p>
          <a:p>
            <a:pPr>
              <a:spcAft>
                <a:spcPts val="600"/>
              </a:spcAft>
              <a:defRPr sz="1300">
                <a:solidFill>
                  <a:srgbClr val="EEF7FF"/>
                </a:solidFill>
                <a:latin typeface="微软雅黑"/>
              </a:defRPr>
            </a:pPr>
            <a:r>
              <a:t>私域转化话术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897880" y="3337560"/>
            <a:ext cx="5440680" cy="2103120"/>
          </a:xfrm>
          <a:prstGeom prst="roundRect">
            <a:avLst/>
          </a:prstGeom>
          <a:solidFill>
            <a:srgbClr val="091B2D"/>
          </a:solidFill>
          <a:ln w="15240">
            <a:solidFill>
              <a:srgbClr val="9A8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36208" y="3703320"/>
            <a:ext cx="47091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EEF7FF"/>
                </a:solidFill>
                <a:latin typeface="微软雅黑"/>
              </a:defRPr>
            </a:pPr>
            <a:r>
              <a:t>AI 能放大产量，但真正决定价值的是定位、观点和用户理解。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87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9144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8288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7432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36576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45720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54864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008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0" y="-1005840"/>
            <a:ext cx="4023360" cy="4023360"/>
          </a:xfrm>
          <a:prstGeom prst="ellipse">
            <a:avLst/>
          </a:prstGeom>
          <a:solidFill>
            <a:srgbClr val="009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-1371600" y="5120640"/>
            <a:ext cx="4206240" cy="2194560"/>
          </a:xfrm>
          <a:prstGeom prst="ellipse">
            <a:avLst/>
          </a:prstGeom>
          <a:solidFill>
            <a:srgbClr val="34CE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84048"/>
            <a:ext cx="8961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EEF7FF"/>
                </a:solidFill>
                <a:latin typeface="微软雅黑"/>
              </a:defRPr>
            </a:pPr>
            <a:r>
              <a:t>画像五：技术 / 产品型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932688"/>
            <a:ext cx="1143000" cy="381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1024128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9AB2CD"/>
                </a:solidFill>
                <a:latin typeface="微软雅黑"/>
              </a:defRPr>
            </a:pPr>
            <a:r>
              <a:t>程序员、产品经理、数据分析师、自动化爱好者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78440" y="6437376"/>
            <a:ext cx="1097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0">
                <a:solidFill>
                  <a:srgbClr val="9AB2CD"/>
                </a:solidFill>
                <a:latin typeface="微软雅黑"/>
              </a:defRPr>
            </a:pPr>
            <a:r>
              <a:t>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631168" y="502920"/>
            <a:ext cx="38100" cy="57150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85800" y="1508760"/>
            <a:ext cx="3383280" cy="1325880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27E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5800" y="1508760"/>
            <a:ext cx="3383280" cy="381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6968" y="167335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EEF7FF"/>
                </a:solidFill>
                <a:latin typeface="微软雅黑"/>
              </a:defRPr>
            </a:pPr>
            <a:r>
              <a:t>核心诉求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" y="2075688"/>
            <a:ext cx="2980944" cy="612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用 AI 做工具、产品、自动化系统。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43400" y="1508760"/>
            <a:ext cx="3383280" cy="1325880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FFB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43400" y="1508760"/>
            <a:ext cx="3383280" cy="38100"/>
          </a:xfrm>
          <a:prstGeom prst="rect">
            <a:avLst/>
          </a:prstGeom>
          <a:solidFill>
            <a:srgbClr val="FFBE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44568" y="167335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EEF7FF"/>
                </a:solidFill>
                <a:latin typeface="微软雅黑"/>
              </a:defRPr>
            </a:pPr>
            <a:r>
              <a:t>典型问题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44568" y="2075688"/>
            <a:ext cx="2980944" cy="612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技术强，但容易先做工具，后找需求。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01000" y="1508760"/>
            <a:ext cx="3383280" cy="1325880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FF5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01000" y="1508760"/>
            <a:ext cx="3383280" cy="38100"/>
          </a:xfrm>
          <a:prstGeom prst="rect">
            <a:avLst/>
          </a:prstGeom>
          <a:solidFill>
            <a:srgbClr val="FF5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02168" y="167335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EEF7FF"/>
                </a:solidFill>
                <a:latin typeface="微软雅黑"/>
              </a:defRPr>
            </a:pPr>
            <a:r>
              <a:t>能力短板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02168" y="2075688"/>
            <a:ext cx="2980944" cy="612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用户洞察不足；商业化能力不足；表达销售较弱。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3127248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EEF7FF"/>
                </a:solidFill>
                <a:latin typeface="微软雅黑"/>
              </a:defRPr>
            </a:pPr>
            <a:r>
              <a:t>适合切入场景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71800" y="3566160"/>
            <a:ext cx="47548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EEF7FF"/>
                </a:solidFill>
                <a:latin typeface="微软雅黑"/>
              </a:defRPr>
            </a:pPr>
            <a:r>
              <a:t>AI Agent</a:t>
            </a:r>
          </a:p>
          <a:p>
            <a:pPr>
              <a:spcAft>
                <a:spcPts val="600"/>
              </a:spcAft>
              <a:defRPr sz="1300">
                <a:solidFill>
                  <a:srgbClr val="EEF7FF"/>
                </a:solidFill>
                <a:latin typeface="微软雅黑"/>
              </a:defRPr>
            </a:pPr>
            <a:r>
              <a:t>自动化报表</a:t>
            </a:r>
          </a:p>
          <a:p>
            <a:pPr>
              <a:spcAft>
                <a:spcPts val="600"/>
              </a:spcAft>
              <a:defRPr sz="1300">
                <a:solidFill>
                  <a:srgbClr val="EEF7FF"/>
                </a:solidFill>
                <a:latin typeface="微软雅黑"/>
              </a:defRPr>
            </a:pPr>
            <a:r>
              <a:t>内部工具</a:t>
            </a:r>
          </a:p>
          <a:p>
            <a:pPr>
              <a:spcAft>
                <a:spcPts val="600"/>
              </a:spcAft>
              <a:defRPr sz="1300">
                <a:solidFill>
                  <a:srgbClr val="EEF7FF"/>
                </a:solidFill>
                <a:latin typeface="微软雅黑"/>
              </a:defRPr>
            </a:pPr>
            <a:r>
              <a:t>数据分析</a:t>
            </a:r>
          </a:p>
          <a:p>
            <a:pPr>
              <a:spcAft>
                <a:spcPts val="600"/>
              </a:spcAft>
              <a:defRPr sz="1300">
                <a:solidFill>
                  <a:srgbClr val="EEF7FF"/>
                </a:solidFill>
                <a:latin typeface="微软雅黑"/>
              </a:defRPr>
            </a:pPr>
            <a:r>
              <a:t>行业小工具</a:t>
            </a:r>
          </a:p>
          <a:p>
            <a:pPr>
              <a:spcAft>
                <a:spcPts val="600"/>
              </a:spcAft>
              <a:defRPr sz="1300">
                <a:solidFill>
                  <a:srgbClr val="EEF7FF"/>
                </a:solidFill>
                <a:latin typeface="微软雅黑"/>
              </a:defRPr>
            </a:pPr>
            <a:r>
              <a:t>SaaS 原型验证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897880" y="3337560"/>
            <a:ext cx="5440680" cy="2103120"/>
          </a:xfrm>
          <a:prstGeom prst="roundRect">
            <a:avLst/>
          </a:prstGeom>
          <a:solidFill>
            <a:srgbClr val="091B2D"/>
          </a:solidFill>
          <a:ln w="15240">
            <a:solidFill>
              <a:srgbClr val="27E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36208" y="3703320"/>
            <a:ext cx="47091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EEF7FF"/>
                </a:solidFill>
                <a:latin typeface="微软雅黑"/>
              </a:defRPr>
            </a:pPr>
            <a:r>
              <a:t>不要先问我能做什么工具，而要先问谁愿意为什么问题付钱。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87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9144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8288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7432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36576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45720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54864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008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0" y="-1005840"/>
            <a:ext cx="4023360" cy="4023360"/>
          </a:xfrm>
          <a:prstGeom prst="ellipse">
            <a:avLst/>
          </a:prstGeom>
          <a:solidFill>
            <a:srgbClr val="009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-1371600" y="5120640"/>
            <a:ext cx="4206240" cy="2194560"/>
          </a:xfrm>
          <a:prstGeom prst="ellipse">
            <a:avLst/>
          </a:prstGeom>
          <a:solidFill>
            <a:srgbClr val="34CE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84048"/>
            <a:ext cx="8961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EEF7FF"/>
                </a:solidFill>
                <a:latin typeface="微软雅黑"/>
              </a:defRPr>
            </a:pPr>
            <a:r>
              <a:t>画像六：学习成长型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932688"/>
            <a:ext cx="1143000" cy="381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1024128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9AB2CD"/>
                </a:solidFill>
                <a:latin typeface="微软雅黑"/>
              </a:defRPr>
            </a:pPr>
            <a:r>
              <a:t>学生、宝妈、退休人群、转行探索者、AI 初学者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78440" y="6437376"/>
            <a:ext cx="1097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0">
                <a:solidFill>
                  <a:srgbClr val="9AB2CD"/>
                </a:solidFill>
                <a:latin typeface="微软雅黑"/>
              </a:defRPr>
            </a:pPr>
            <a:r>
              <a:t>15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631168" y="502920"/>
            <a:ext cx="38100" cy="57150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85800" y="1508760"/>
            <a:ext cx="3383280" cy="1325880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49EC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5800" y="1508760"/>
            <a:ext cx="3383280" cy="38100"/>
          </a:xfrm>
          <a:prstGeom prst="rect">
            <a:avLst/>
          </a:prstGeom>
          <a:solidFill>
            <a:srgbClr val="49EC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6968" y="167335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EEF7FF"/>
                </a:solidFill>
                <a:latin typeface="微软雅黑"/>
              </a:defRPr>
            </a:pPr>
            <a:r>
              <a:t>核心诉求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" y="2075688"/>
            <a:ext cx="2980944" cy="612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了解 AI，提升学习效率，找到个人可能性。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43400" y="1508760"/>
            <a:ext cx="3383280" cy="1325880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FFB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43400" y="1508760"/>
            <a:ext cx="3383280" cy="38100"/>
          </a:xfrm>
          <a:prstGeom prst="rect">
            <a:avLst/>
          </a:prstGeom>
          <a:solidFill>
            <a:srgbClr val="FFBE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44568" y="167335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EEF7FF"/>
                </a:solidFill>
                <a:latin typeface="微软雅黑"/>
              </a:defRPr>
            </a:pPr>
            <a:r>
              <a:t>典型问题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44568" y="2075688"/>
            <a:ext cx="2980944" cy="612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害怕技术门槛，不知道从哪里开始，容易被工具信息淹没。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01000" y="1508760"/>
            <a:ext cx="3383280" cy="1325880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FF5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01000" y="1508760"/>
            <a:ext cx="3383280" cy="38100"/>
          </a:xfrm>
          <a:prstGeom prst="rect">
            <a:avLst/>
          </a:prstGeom>
          <a:solidFill>
            <a:srgbClr val="FF5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02168" y="167335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EEF7FF"/>
                </a:solidFill>
                <a:latin typeface="微软雅黑"/>
              </a:defRPr>
            </a:pPr>
            <a:r>
              <a:t>能力短板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02168" y="2075688"/>
            <a:ext cx="2980944" cy="612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基础认知不足；缺少稳定场景；容易浅尝辄止。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3127248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EEF7FF"/>
                </a:solidFill>
                <a:latin typeface="微软雅黑"/>
              </a:defRPr>
            </a:pPr>
            <a:r>
              <a:t>适合切入场景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0" y="3566160"/>
            <a:ext cx="47548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EEF7FF"/>
                </a:solidFill>
                <a:latin typeface="微软雅黑"/>
              </a:defRPr>
            </a:pPr>
            <a:r>
              <a:t>学习计划</a:t>
            </a:r>
          </a:p>
          <a:p>
            <a:pPr>
              <a:spcAft>
                <a:spcPts val="600"/>
              </a:spcAft>
              <a:defRPr sz="1300">
                <a:solidFill>
                  <a:srgbClr val="EEF7FF"/>
                </a:solidFill>
                <a:latin typeface="微软雅黑"/>
              </a:defRPr>
            </a:pPr>
            <a:r>
              <a:t>读书总结</a:t>
            </a:r>
          </a:p>
          <a:p>
            <a:pPr>
              <a:spcAft>
                <a:spcPts val="600"/>
              </a:spcAft>
              <a:defRPr sz="1300">
                <a:solidFill>
                  <a:srgbClr val="EEF7FF"/>
                </a:solidFill>
                <a:latin typeface="微软雅黑"/>
              </a:defRPr>
            </a:pPr>
            <a:r>
              <a:t>英语学习</a:t>
            </a:r>
          </a:p>
          <a:p>
            <a:pPr>
              <a:spcAft>
                <a:spcPts val="600"/>
              </a:spcAft>
              <a:defRPr sz="1300">
                <a:solidFill>
                  <a:srgbClr val="EEF7FF"/>
                </a:solidFill>
                <a:latin typeface="微软雅黑"/>
              </a:defRPr>
            </a:pPr>
            <a:r>
              <a:t>资料整理</a:t>
            </a:r>
          </a:p>
          <a:p>
            <a:pPr>
              <a:spcAft>
                <a:spcPts val="600"/>
              </a:spcAft>
              <a:defRPr sz="1300">
                <a:solidFill>
                  <a:srgbClr val="EEF7FF"/>
                </a:solidFill>
                <a:latin typeface="微软雅黑"/>
              </a:defRPr>
            </a:pPr>
            <a:r>
              <a:t>生活规划</a:t>
            </a:r>
          </a:p>
          <a:p>
            <a:pPr>
              <a:spcAft>
                <a:spcPts val="600"/>
              </a:spcAft>
              <a:defRPr sz="1300">
                <a:solidFill>
                  <a:srgbClr val="EEF7FF"/>
                </a:solidFill>
                <a:latin typeface="微软雅黑"/>
              </a:defRPr>
            </a:pPr>
            <a:r>
              <a:t>兴趣内容创作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897880" y="3337560"/>
            <a:ext cx="5440680" cy="2103120"/>
          </a:xfrm>
          <a:prstGeom prst="roundRect">
            <a:avLst/>
          </a:prstGeom>
          <a:solidFill>
            <a:srgbClr val="091B2D"/>
          </a:solidFill>
          <a:ln w="15240">
            <a:solidFill>
              <a:srgbClr val="49EC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36208" y="3703320"/>
            <a:ext cx="47091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EEF7FF"/>
                </a:solidFill>
                <a:latin typeface="微软雅黑"/>
              </a:defRPr>
            </a:pPr>
            <a:r>
              <a:t>第一阶段不要焦虑变现，先建立 AI 使用习惯，让 AI 成为学习和表达伙伴。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87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9144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8288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7432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36576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45720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54864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008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0" y="-1005840"/>
            <a:ext cx="4023360" cy="4023360"/>
          </a:xfrm>
          <a:prstGeom prst="ellipse">
            <a:avLst/>
          </a:prstGeom>
          <a:solidFill>
            <a:srgbClr val="009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-1371600" y="5120640"/>
            <a:ext cx="4206240" cy="2194560"/>
          </a:xfrm>
          <a:prstGeom prst="ellipse">
            <a:avLst/>
          </a:prstGeom>
          <a:solidFill>
            <a:srgbClr val="34CE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84048"/>
            <a:ext cx="8961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EEF7FF"/>
                </a:solidFill>
                <a:latin typeface="微软雅黑"/>
              </a:defRPr>
            </a:pPr>
            <a:r>
              <a:t>不同人群的 AI 第一场景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932688"/>
            <a:ext cx="1143000" cy="381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78440" y="6437376"/>
            <a:ext cx="1097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0">
                <a:solidFill>
                  <a:srgbClr val="9AB2CD"/>
                </a:solidFill>
                <a:latin typeface="微软雅黑"/>
              </a:defRPr>
            </a:pPr>
            <a:r>
              <a:t>16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631168" y="502920"/>
            <a:ext cx="38100" cy="57150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777240" y="1417320"/>
          <a:ext cx="10652760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337560"/>
                <a:gridCol w="5486400"/>
              </a:tblGrid>
              <a:tr h="607422">
                <a:tc>
                  <a:txBody>
                    <a:bodyPr wrap="square"/>
                    <a:lstStyle/>
                    <a:p>
                      <a:pPr>
                        <a:defRPr sz="1050" b="1">
                          <a:solidFill>
                            <a:srgbClr val="EEF7FF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  <a:uFillTx/>
                        </a:rPr>
                        <a:t>人群</a:t>
                      </a:r>
                      <a:endParaRPr sz="1800">
                        <a:solidFill>
                          <a:schemeClr val="bg1"/>
                        </a:solidFill>
                        <a:uFillTx/>
                      </a:endParaRPr>
                    </a:p>
                  </a:txBody>
                  <a:tcPr marL="54864" marR="54864" marT="36576" marB="36576" anchor="ctr">
                    <a:solidFill>
                      <a:srgbClr val="122B4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50" b="1">
                          <a:solidFill>
                            <a:srgbClr val="EEF7FF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  <a:uFillTx/>
                        </a:rPr>
                        <a:t>最优先场景</a:t>
                      </a:r>
                      <a:endParaRPr sz="1800">
                        <a:solidFill>
                          <a:schemeClr val="bg1"/>
                        </a:solidFill>
                        <a:uFillTx/>
                      </a:endParaRPr>
                    </a:p>
                  </a:txBody>
                  <a:tcPr marL="54864" marR="54864" marT="36576" marB="36576" anchor="ctr">
                    <a:solidFill>
                      <a:srgbClr val="122B4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50" b="1">
                          <a:solidFill>
                            <a:srgbClr val="EEF7FF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  <a:uFillTx/>
                        </a:rPr>
                        <a:t>第一份交付物</a:t>
                      </a:r>
                      <a:endParaRPr sz="1800">
                        <a:solidFill>
                          <a:schemeClr val="bg1"/>
                        </a:solidFill>
                        <a:uFillTx/>
                      </a:endParaRPr>
                    </a:p>
                  </a:txBody>
                  <a:tcPr marL="54864" marR="54864" marT="36576" marB="36576" anchor="ctr">
                    <a:solidFill>
                      <a:srgbClr val="122B44"/>
                    </a:solidFill>
                  </a:tcPr>
                </a:tc>
              </a:tr>
              <a:tr h="607422"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  <a:uFillTx/>
                        </a:rPr>
                        <a:t>职场转型型</a:t>
                      </a:r>
                      <a:endParaRPr sz="1800">
                        <a:solidFill>
                          <a:schemeClr val="bg1"/>
                        </a:solidFill>
                        <a:uFillTx/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  <a:uFillTx/>
                        </a:rPr>
                        <a:t>日常工作提效</a:t>
                      </a:r>
                      <a:endParaRPr sz="1800">
                        <a:solidFill>
                          <a:schemeClr val="bg1"/>
                        </a:solidFill>
                        <a:uFillTx/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  <a:uFillTx/>
                        </a:rPr>
                        <a:t>一份工作汇报 / SOP / 简历优化稿</a:t>
                      </a:r>
                      <a:endParaRPr sz="1800">
                        <a:solidFill>
                          <a:schemeClr val="bg1"/>
                        </a:solidFill>
                        <a:uFillTx/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</a:tr>
              <a:tr h="607422"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  <a:uFillTx/>
                        </a:rPr>
                        <a:t>个体创业型</a:t>
                      </a:r>
                      <a:endParaRPr sz="1800">
                        <a:solidFill>
                          <a:schemeClr val="bg1"/>
                        </a:solidFill>
                        <a:uFillTx/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  <a:uFillTx/>
                        </a:rPr>
                        <a:t>获客与交付标准化</a:t>
                      </a:r>
                      <a:endParaRPr sz="1800">
                        <a:solidFill>
                          <a:schemeClr val="bg1"/>
                        </a:solidFill>
                        <a:uFillTx/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  <a:uFillTx/>
                        </a:rPr>
                        <a:t>一套服务介绍 + 咨询方案模板</a:t>
                      </a:r>
                      <a:endParaRPr sz="1800">
                        <a:solidFill>
                          <a:schemeClr val="bg1"/>
                        </a:solidFill>
                        <a:uFillTx/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</a:tr>
              <a:tr h="607422"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  <a:uFillTx/>
                        </a:rPr>
                        <a:t>老板管理型</a:t>
                      </a:r>
                      <a:endParaRPr sz="1800">
                        <a:solidFill>
                          <a:schemeClr val="bg1"/>
                        </a:solidFill>
                        <a:uFillTx/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  <a:uFillTx/>
                        </a:rPr>
                        <a:t>团队高频重复流程</a:t>
                      </a:r>
                      <a:endParaRPr sz="1800">
                        <a:solidFill>
                          <a:schemeClr val="bg1"/>
                        </a:solidFill>
                        <a:uFillTx/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  <a:uFillTx/>
                        </a:rPr>
                        <a:t>销售话术库 / FAQ / 会议行动清单</a:t>
                      </a:r>
                      <a:endParaRPr sz="1800">
                        <a:solidFill>
                          <a:schemeClr val="bg1"/>
                        </a:solidFill>
                        <a:uFillTx/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</a:tr>
              <a:tr h="607422"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  <a:uFillTx/>
                        </a:rPr>
                        <a:t>内容创作者型</a:t>
                      </a:r>
                      <a:endParaRPr sz="1800">
                        <a:solidFill>
                          <a:schemeClr val="bg1"/>
                        </a:solidFill>
                        <a:uFillTx/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  <a:uFillTx/>
                        </a:rPr>
                        <a:t>选题与内容生产</a:t>
                      </a:r>
                      <a:endParaRPr sz="1800">
                        <a:solidFill>
                          <a:schemeClr val="bg1"/>
                        </a:solidFill>
                        <a:uFillTx/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  <a:uFillTx/>
                        </a:rPr>
                        <a:t>30 天选题库 + 3 条脚本</a:t>
                      </a:r>
                      <a:endParaRPr sz="1800">
                        <a:solidFill>
                          <a:schemeClr val="bg1"/>
                        </a:solidFill>
                        <a:uFillTx/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</a:tr>
              <a:tr h="607422"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  <a:uFillTx/>
                        </a:rPr>
                        <a:t>技术产品型</a:t>
                      </a:r>
                      <a:endParaRPr sz="1800">
                        <a:solidFill>
                          <a:schemeClr val="bg1"/>
                        </a:solidFill>
                        <a:uFillTx/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  <a:uFillTx/>
                        </a:rPr>
                        <a:t>需求验证与原型</a:t>
                      </a:r>
                      <a:endParaRPr sz="1800">
                        <a:solidFill>
                          <a:schemeClr val="bg1"/>
                        </a:solidFill>
                        <a:uFillTx/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  <a:uFillTx/>
                        </a:rPr>
                        <a:t>一个可演示的小工具或自动化流程</a:t>
                      </a:r>
                      <a:endParaRPr sz="1800">
                        <a:solidFill>
                          <a:schemeClr val="bg1"/>
                        </a:solidFill>
                        <a:uFillTx/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</a:tr>
              <a:tr h="607428"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  <a:uFillTx/>
                        </a:rPr>
                        <a:t>学习成长型</a:t>
                      </a:r>
                      <a:endParaRPr sz="1800">
                        <a:solidFill>
                          <a:schemeClr val="bg1"/>
                        </a:solidFill>
                        <a:uFillTx/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  <a:uFillTx/>
                        </a:rPr>
                        <a:t>学习与表达</a:t>
                      </a:r>
                      <a:endParaRPr sz="1800">
                        <a:solidFill>
                          <a:schemeClr val="bg1"/>
                        </a:solidFill>
                        <a:uFillTx/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0">
                          <a:solidFill>
                            <a:srgbClr val="9AB2CD"/>
                          </a:solidFill>
                          <a:latin typeface="微软雅黑"/>
                        </a:defRPr>
                      </a:pPr>
                      <a:r>
                        <a:rPr sz="1800">
                          <a:solidFill>
                            <a:schemeClr val="bg1"/>
                          </a:solidFill>
                          <a:uFillTx/>
                        </a:rPr>
                        <a:t>个人学习计划 + 读书总结模板</a:t>
                      </a:r>
                      <a:endParaRPr sz="1800">
                        <a:solidFill>
                          <a:schemeClr val="bg1"/>
                        </a:solidFill>
                        <a:uFillTx/>
                      </a:endParaRPr>
                    </a:p>
                  </a:txBody>
                  <a:tcPr marL="54864" marR="54864" marT="36576" marB="36576" anchor="ctr">
                    <a:solidFill>
                      <a:srgbClr val="0D1E3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87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9144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8288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7432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36576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45720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54864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008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0" y="-1005840"/>
            <a:ext cx="4023360" cy="4023360"/>
          </a:xfrm>
          <a:prstGeom prst="ellipse">
            <a:avLst/>
          </a:prstGeom>
          <a:solidFill>
            <a:srgbClr val="009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-1371600" y="5120640"/>
            <a:ext cx="4206240" cy="2194560"/>
          </a:xfrm>
          <a:prstGeom prst="ellipse">
            <a:avLst/>
          </a:prstGeom>
          <a:solidFill>
            <a:srgbClr val="34CE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84048"/>
            <a:ext cx="8961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EEF7FF"/>
                </a:solidFill>
                <a:latin typeface="微软雅黑"/>
              </a:defRPr>
            </a:pPr>
            <a:r>
              <a:t>OPC 的 AI 成长四阶段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932688"/>
            <a:ext cx="1143000" cy="381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78440" y="6437376"/>
            <a:ext cx="1097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0">
                <a:solidFill>
                  <a:srgbClr val="9AB2CD"/>
                </a:solidFill>
                <a:latin typeface="微软雅黑"/>
              </a:defRPr>
            </a:pPr>
            <a:r>
              <a:t>17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631168" y="502920"/>
            <a:ext cx="38100" cy="57150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77240" y="1874519"/>
            <a:ext cx="2450592" cy="1828800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27E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1874519"/>
            <a:ext cx="2450592" cy="381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" y="2039111"/>
            <a:ext cx="204825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EEF7FF"/>
                </a:solidFill>
                <a:latin typeface="微软雅黑"/>
              </a:defRPr>
            </a:pPr>
            <a:r>
              <a:t>1. 会用 AI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8408" y="2441447"/>
            <a:ext cx="2048256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基础提问、总结整理、内容生成</a:t>
            </a:r>
            <a:br/>
            <a:br/>
            <a:r>
              <a:t>结果：效率提升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593592" y="2194560"/>
            <a:ext cx="2450592" cy="1828800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49EC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593592" y="2194560"/>
            <a:ext cx="2450592" cy="38100"/>
          </a:xfrm>
          <a:prstGeom prst="rect">
            <a:avLst/>
          </a:prstGeom>
          <a:solidFill>
            <a:srgbClr val="49EC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94760" y="2359152"/>
            <a:ext cx="204825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EEF7FF"/>
                </a:solidFill>
                <a:latin typeface="微软雅黑"/>
              </a:defRPr>
            </a:pPr>
            <a:r>
              <a:t>2. 用 AI 做交付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94760" y="2761488"/>
            <a:ext cx="2048256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方案、报告、客户沟通、内容生产</a:t>
            </a:r>
            <a:br/>
            <a:br/>
            <a:r>
              <a:t>结果：稳定产出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9944" y="2514600"/>
            <a:ext cx="2450592" cy="1828800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FFB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9944" y="2514600"/>
            <a:ext cx="2450592" cy="38100"/>
          </a:xfrm>
          <a:prstGeom prst="rect">
            <a:avLst/>
          </a:prstGeom>
          <a:solidFill>
            <a:srgbClr val="FFBE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11112" y="2679192"/>
            <a:ext cx="204825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EEF7FF"/>
                </a:solidFill>
                <a:latin typeface="微软雅黑"/>
              </a:defRPr>
            </a:pPr>
            <a:r>
              <a:t>3. 用 AI 建系统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11112" y="3081528"/>
            <a:ext cx="2048256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获客、交付、复盘、自动化</a:t>
            </a:r>
            <a:br/>
            <a:br/>
            <a:r>
              <a:t>结果：业务闭环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226296" y="2834639"/>
            <a:ext cx="2450592" cy="1828800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9A8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226296" y="2834639"/>
            <a:ext cx="2450592" cy="38100"/>
          </a:xfrm>
          <a:prstGeom prst="rect">
            <a:avLst/>
          </a:prstGeom>
          <a:solidFill>
            <a:srgbClr val="9A8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427464" y="2999231"/>
            <a:ext cx="204825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EEF7FF"/>
                </a:solidFill>
                <a:latin typeface="微软雅黑"/>
              </a:defRPr>
            </a:pPr>
            <a:r>
              <a:t>4. 用 AI 产品化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27464" y="3401567"/>
            <a:ext cx="2048256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模板化、课程化、工具化、社群化</a:t>
            </a:r>
            <a:br/>
            <a:br/>
            <a:r>
              <a:t>结果：降低边际成本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" y="5321808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49ECA9"/>
                </a:solidFill>
                <a:latin typeface="微软雅黑"/>
              </a:defRPr>
            </a:pPr>
            <a:r>
              <a:t>从“卖时间”走向“卖产品、卖系统、卖可复制能力”。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87200" y="0"/>
            <a:ext cx="6350" cy="685800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9144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8288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7432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36576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45720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54864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00800"/>
            <a:ext cx="12191695" cy="6350"/>
          </a:xfrm>
          <a:prstGeom prst="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03920" y="-1005840"/>
            <a:ext cx="4023360" cy="4023360"/>
          </a:xfrm>
          <a:prstGeom prst="ellipse">
            <a:avLst/>
          </a:prstGeom>
          <a:solidFill>
            <a:srgbClr val="009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-1371600" y="5120640"/>
            <a:ext cx="4206240" cy="2194560"/>
          </a:xfrm>
          <a:prstGeom prst="ellipse">
            <a:avLst/>
          </a:prstGeom>
          <a:solidFill>
            <a:srgbClr val="34CE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378440" y="6437376"/>
            <a:ext cx="1097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0">
                <a:solidFill>
                  <a:srgbClr val="9AB2CD"/>
                </a:solidFill>
                <a:latin typeface="微软雅黑"/>
              </a:defRPr>
            </a:pPr>
            <a:r>
              <a:t>18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631168" y="502920"/>
            <a:ext cx="38100" cy="57150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960120"/>
            <a:ext cx="1056132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600" b="1">
                <a:solidFill>
                  <a:srgbClr val="EEF7FF"/>
                </a:solidFill>
                <a:latin typeface="微软雅黑"/>
              </a:defRPr>
            </a:pPr>
            <a:r>
              <a:t>不要问：AI 能替我做什么？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2743200"/>
            <a:ext cx="101498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200" b="1">
                <a:solidFill>
                  <a:srgbClr val="49ECA9"/>
                </a:solidFill>
                <a:latin typeface="微软雅黑"/>
              </a:defRPr>
            </a:pPr>
            <a:r>
              <a:t>要问：我想创造什么价值，</a:t>
            </a:r>
            <a:br/>
            <a:r>
              <a:t>AI 能帮我放大哪一部分？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28800" y="4892040"/>
            <a:ext cx="8549640" cy="822960"/>
          </a:xfrm>
          <a:prstGeom prst="roundRect">
            <a:avLst/>
          </a:prstGeom>
          <a:solidFill>
            <a:srgbClr val="0D1E32"/>
          </a:solidFill>
          <a:ln w="12700">
            <a:solidFill>
              <a:srgbClr val="27E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828800" y="4892040"/>
            <a:ext cx="8549640" cy="38100"/>
          </a:xfrm>
          <a:prstGeom prst="rect">
            <a:avLst/>
          </a:prstGeom>
          <a:solidFill>
            <a:srgbClr val="27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29968" y="5056632"/>
            <a:ext cx="81473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EEF7FF"/>
                </a:solidFill>
                <a:latin typeface="微软雅黑"/>
              </a:defRPr>
            </a:pPr>
            <a:r>
              <a:t>课后行动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29968" y="5458968"/>
            <a:ext cx="8147304" cy="109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9AB2CD"/>
                </a:solidFill>
                <a:latin typeface="微软雅黑"/>
              </a:defRPr>
            </a:pPr>
            <a:r>
              <a:t>选一个最真实、最高频、最困扰你的场景，用 AI 做出第一份可交付成果。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3415</Words>
  <Application>WPS 演示</Application>
  <PresentationFormat>On-screen Show (4:3)</PresentationFormat>
  <Paragraphs>628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2" baseType="lpstr">
      <vt:lpstr>Arial</vt:lpstr>
      <vt:lpstr>宋体</vt:lpstr>
      <vt:lpstr>Wingdings</vt:lpstr>
      <vt:lpstr>Arial</vt:lpstr>
      <vt:lpstr>微软雅黑</vt:lpstr>
      <vt:lpstr>汉仪旗黑</vt:lpstr>
      <vt:lpstr>Calibri</vt:lpstr>
      <vt:lpstr>Helvetica Neue</vt:lpstr>
      <vt:lpstr>宋体</vt:lpstr>
      <vt:lpstr>汉仪书宋二KW</vt:lpstr>
      <vt:lpstr>微软雅黑</vt:lpstr>
      <vt:lpstr>Arial Unicode MS</vt:lpstr>
      <vt:lpstr>微软雅黑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lhraul</cp:lastModifiedBy>
  <cp:revision>3</cp:revision>
  <dcterms:created xsi:type="dcterms:W3CDTF">2026-04-25T09:51:35Z</dcterms:created>
  <dcterms:modified xsi:type="dcterms:W3CDTF">2026-04-25T09:51:35Z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2052-12.1.25867.25867</vt:lpwstr>
  </property>
  <property fmtid="{D5CDD505-2E9C-101B-9397-08002B2CF9AE}" pid="3" name="ICV">
    <vt:lpwstr>67F70F89B96534196554EC696DA12437_42</vt:lpwstr>
  </property>
</Properties>
</file>